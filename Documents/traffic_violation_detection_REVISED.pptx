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5591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title slide for the paper: 'Traffic Flow Violation Detection Using Object Detection and Tracking on India Intersection Traffic Dataset' by Mirsa Bayu Prasetyo, Gregorius Bugen Jovi Sitindaon, Nur Ilham Iskandar, M. Amridhan Mahdi, and Muhana Fawwazy Ilyas — all from Universitas Gadjah Mada, Indonesia. Begin by briefly introducing yourself and your co-authors, then state the paper's focus: building a classical computer vision system to detect counterflow traffic violations at intersections.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flow violations — particularly counterflow incidents — are a serious safety issue at intersections. In countries like India, irregular traffic behavior is common: vehicles frequently ignore lane markings and directional signs. Traditional human-based monitoring cannot scale reliably, especially at night or during peak hours. Computer vision systems that process continuous video streams provide a promising, automated alternative. Classical approaches based on background subtraction are computationally efficient compared to deep learning methods, making them suitable for resource-limited deployments.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research problem is: Can a lightweight classical computer vision pipeline reliably detect counterflow violations without requiring deep learning or labeled training data? The system has four primary objectives: (1) Build an end-to-end pipeline using MOG2, centroid tracking, and cosine similarity; (2) Support configurable ROI-based lane definitions for arbitrary intersections; (3) Evaluate performance across six video scenarios with varying conditions; and (4) Produce structured CSV violation logs and annotated video outputs.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system follows a six-stage pipeline: (1) Lane Configuration — an operator manually defines ROI polygons and direction vectors for each lane using the first video frame; (2) Vehicle Detection — MOG2 background subtraction extracts foreground vehicle blobs, which are refined by morphological operations and contour filtering; (3) ROI Filtering — only detections whose centroid falls inside a defined lane polygon are passed forward; (4) Centroid Tracking — a greedy nearest-neighbor tracker assigns consistent object IDs across frames; (5) Violation Evaluation — cosine similarity between the object's motion vector and the lane's direction vector, confirmed over a streak of 5 frames, determines violation status; (6) Output Generation — results are stored as CSV logs and annotated video.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Vehicle detection follows a six-step classical image processing pipeline: (1) MOG2 background subtraction generates a foreground mask with shadow pixels labeled as 127 and true foreground as 255; (2) Binary thresholding at 200 removes shadow pixels; (3) Morphological opening with a 3×3 kernel removes noise; (4) Morphological closing with a 7×7 kernel fills holes within vehicle blobs; (5) cv2.findContours with RETR_EXTERNAL extracts only the outermost contours; (6) Contours with area below 300 px² are discarded as noise. Valid contours yield Detection objects with bounding box, centroid, and area.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tracker is implemented as a CentroidTracker class using a greedy nearest-neighbor algorithm. Each frame, it builds a pairwise Euclidean distance matrix between all active track centroids and new detections, then greedily assigns pairs in ascending order up to a maximum of 60 pixels displacement. Tracks unmatched for more than 15 consecutive frames are deregistered. Each tracked object maintains: a unique integer ID, its current centroid and bounding box, a 12-point centroid history deque, a lost-frame counter, lane assignment, violation status (unknown/normal/violation), and a violation_streak counter.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violation detection logic has four steps: (1) Motion Vector — computed as the centroid displacement over a 5-frame lookback window; objects with displacement below 2 pixels are treated as stationary and skipped; (2) Cosine Similarity — measures the directional agreement between the motion vector and the predefined lane direction unit vector; (3) Classification — cosine below −0.3 increments the violation streak counter, above +0.3 resets it to normal, and the intermediate range is treated as ambiguous to handle turning maneuvers; (4) Streak Confirmation — a violation is only officially flagged when the streak counter reaches 5 consecutive counterflow frames, reducing false positives. Once flagged, the object's violation status is permanent.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was evaluated on six video scenarios from the Traffic India Intersection dataset (available on Kaggle). These cover a range of conditions: two nighttime accident scenarios (accident_night_1 and _2), two daytime accident scenarios (accident_day_1 and _2), one dense uncontrolled daytime intersection (traffic_day_1), and one regulated toll plaza (traffic_toll). The system uses only two external libraries: opencv-python and numpy — no deep learning framework is required. All parameters were kept uniform across all scenarios with no per-dataset tuning.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III from the paper: The system detected counterflow violations in all scenarios except the toll plaza. traffic_day_1 — a dense, uncontrolled Indian intersection — produced 23 unique violation object IDs spanning over 45 seconds of video. Nighttime scenarios (accident_night_1 and _2) showed detections as early as frame 66 (2.2 seconds into the video), which is earlier than any daytime accident scenario. traffic_toll produced no violations, which is consistent with regulated, single-direction toll lane behavior. Note that ground truth annotations are unavailable, so precision and recall cannot be computed.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findings from the discussion: (1) Nighttime vs Daytime — counterintuitively, nighttime accident scenarios triggered earlier detections, likely because vehicle headlights provide high contrast against dark roads, helping MOG2 detect blobs quickly. (2) Accident vs Non-Accident — non-accident dense traffic exhibited far more violations, suggesting that irregular directional behavior is intrinsic to uncontrolled intersections, not just accident scenarios. (3) Dense vs Regulated — the stark contrast between 23 violations (traffic_day_1) and 0 violations (traffic_toll) validates the system's specificity. (4) Tracking Artifacts — non-sequential violated IDs confirm that the streak filter correctly rejects transient motions, but the greedy tracker remains vulnerable to identity switches under occlusion.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five key limitations: no ground truth (preventing quantitative metrics), only counterflow detection, manual lane configuration per video, uniform parameters not tuned per scenario, and a greedy tracker susceptible to identity switches. Future directions include: ground truth annotation for rigorous evaluation; replacing MOG2 with YOLO for better robustness; upgrading the tracker to SORT, DeepSORT, or ByteTrack; per-scenario parameter optimization; multi-lane simultaneous configuration; a real-time dashboard for traffic management centers; and extending detection to other violation types such as red-light running and illegal stopping.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(1) The system demonstrates the viability of classical computer vision for counterflow detection — no deep learning or labeled data required, functioning across day/night, accident/normal, and dense/regulated scenarios. (2) Key performance highlights include 23 unique violations detected in the dense traffic_day_1 scenario, nighttime detections as early as frame 66, and zero violations for traffic_toll confirming system specificity. (3) The main methodological contributions are the end-to-end classical pipeline, the configurable ROI lane tool, and the structured CSV + annotated video outputs. (4) Future development — particularly YOLO integration, advanced tracking, and multi-violation support — will move this system toward comprehensive real-world intelligent transportation system deployment. Thank you —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txBody>
          <a:bodyPr/>
          <a:p/>
        </p:txBody>
      </p:sp>
      <p:sp>
        <p:nvSpPr>
          <p:cNvPr id="3" name="Shape 1"/>
          <p:cNvSpPr/>
          <p:nvPr/>
        </p:nvSpPr>
        <p:spPr>
          <a:xfrm>
            <a:off x="0" y="5070348"/>
            <a:ext cx="9144000" cy="73152"/>
          </a:xfrm>
          <a:prstGeom prst="rect">
            <a:avLst/>
          </a:prstGeom>
          <a:solidFill>
            <a:srgbClr val="00B4D8"/>
          </a:solidFill>
          <a:ln w="12700">
            <a:solidFill>
              <a:srgbClr val="00B4D8"/>
            </a:solidFill>
            <a:prstDash val="solid"/>
          </a:ln>
        </p:spPr>
        <p:txBody>
          <a:bodyPr/>
          <a:p/>
        </p:txBody>
      </p:sp>
      <p:sp>
        <p:nvSpPr>
          <p:cNvPr id="4" name="Shape 2"/>
          <p:cNvSpPr/>
          <p:nvPr/>
        </p:nvSpPr>
        <p:spPr>
          <a:xfrm>
            <a:off x="0" y="73152"/>
            <a:ext cx="73152" cy="4997196"/>
          </a:xfrm>
          <a:prstGeom prst="rect">
            <a:avLst/>
          </a:prstGeom>
          <a:solidFill>
            <a:srgbClr val="1360A4"/>
          </a:solidFill>
          <a:ln w="12700">
            <a:solidFill>
              <a:srgbClr val="1360A4"/>
            </a:solidFill>
            <a:prstDash val="solid"/>
          </a:ln>
        </p:spPr>
        <p:txBody>
          <a:bodyPr/>
          <a:p/>
        </p:txBody>
      </p:sp>
      <p:sp>
        <p:nvSpPr>
          <p:cNvPr id="5" name="Text 3"/>
          <p:cNvSpPr/>
          <p:nvPr/>
        </p:nvSpPr>
        <p:spPr>
          <a:xfrm>
            <a:off x="457200" y="731520"/>
            <a:ext cx="8229600" cy="822960"/>
          </a:xfrm>
          <a:prstGeom prst="rect">
            <a:avLst/>
          </a:prstGeom>
          <a:noFill/>
          <a:ln/>
        </p:spPr>
        <p:txBody>
          <a:bodyPr wrap="square" rtlCol="0" anchor="ctr"/>
          <a:lstStyle/>
          <a:p>
            <a:pPr marL="0" indent="0" algn="ctr">
              <a:buNone/>
            </a:pPr>
            <a:r>
              <a:rPr lang="en-US" sz="3200" b="1" dirty="0">
                <a:solidFill>
                  <a:srgbClr val="FFFFFF"/>
                </a:solidFill>
              </a:rPr>
              <a:t>Traffic Flow Violation Detection</a:t>
            </a:r>
            <a:endParaRPr lang="en-US" sz="3200" dirty="0"/>
          </a:p>
        </p:txBody>
      </p:sp>
      <p:sp>
        <p:nvSpPr>
          <p:cNvPr id="6" name="Text 4"/>
          <p:cNvSpPr/>
          <p:nvPr/>
        </p:nvSpPr>
        <p:spPr>
          <a:xfrm>
            <a:off x="457200" y="1508760"/>
            <a:ext cx="8229600" cy="914400"/>
          </a:xfrm>
          <a:prstGeom prst="rect">
            <a:avLst/>
          </a:prstGeom>
          <a:noFill/>
          <a:ln/>
        </p:spPr>
        <p:txBody>
          <a:bodyPr wrap="square" rtlCol="0" anchor="ctr"/>
          <a:lstStyle/>
          <a:p>
            <a:pPr marL="0" indent="0" algn="ctr">
              <a:buNone/>
            </a:pPr>
            <a:r>
              <a:rPr lang="en-US" sz="2000" dirty="0">
                <a:solidFill>
                  <a:srgbClr val="00B4D8"/>
                </a:solidFill>
              </a:rPr>
              <a:t>Using Object Detection and Tracking</a:t>
            </a:r>
            <a:endParaRPr lang="en-US" sz="2000" dirty="0"/>
          </a:p>
          <a:p>
            <a:pPr marL="0" indent="0" algn="ctr">
              <a:buNone/>
            </a:pPr>
            <a:r>
              <a:rPr lang="en-US" sz="2000" dirty="0">
                <a:solidFill>
                  <a:srgbClr val="00B4D8"/>
                </a:solidFill>
              </a:rPr>
              <a:t>on Indonesian Road CCTV Footage (Bogor, Bekasi, Tangerang)</a:t>
            </a:r>
            <a:endParaRPr lang="en-US" sz="2000" dirty="0"/>
          </a:p>
        </p:txBody>
      </p:sp>
      <p:sp>
        <p:nvSpPr>
          <p:cNvPr id="7" name="Shape 5"/>
          <p:cNvSpPr/>
          <p:nvPr/>
        </p:nvSpPr>
        <p:spPr>
          <a:xfrm>
            <a:off x="1828800" y="2542032"/>
            <a:ext cx="5486400" cy="36576"/>
          </a:xfrm>
          <a:prstGeom prst="rect">
            <a:avLst/>
          </a:prstGeom>
          <a:solidFill>
            <a:srgbClr val="1A78C2"/>
          </a:solidFill>
          <a:ln w="12700">
            <a:solidFill>
              <a:srgbClr val="1A78C2"/>
            </a:solidFill>
            <a:prstDash val="solid"/>
          </a:ln>
        </p:spPr>
        <p:txBody>
          <a:bodyPr/>
          <a:p/>
        </p:txBody>
      </p:sp>
      <p:sp>
        <p:nvSpPr>
          <p:cNvPr id="8" name="Text 6"/>
          <p:cNvSpPr/>
          <p:nvPr/>
        </p:nvSpPr>
        <p:spPr>
          <a:xfrm>
            <a:off x="457200" y="2697480"/>
            <a:ext cx="8229600" cy="731520"/>
          </a:xfrm>
          <a:prstGeom prst="rect">
            <a:avLst/>
          </a:prstGeom>
          <a:noFill/>
          <a:ln/>
        </p:spPr>
        <p:txBody>
          <a:bodyPr wrap="square" rtlCol="0" anchor="ctr"/>
          <a:lstStyle/>
          <a:p>
            <a:pPr marL="0" indent="0" algn="ctr">
              <a:buNone/>
            </a:pPr>
            <a:r>
              <a:rPr lang="en-US" sz="1300" dirty="0">
                <a:solidFill>
                  <a:srgbClr val="D1D5DB"/>
                </a:solidFill>
              </a:rPr>
              <a:t>Mirsa Bayu Prasetyo  ·  Gregorius Bugen Jovi Sitindaon  ·  Nur Ilham Iskandar</a:t>
            </a:r>
            <a:endParaRPr lang="en-US" sz="1300" dirty="0"/>
          </a:p>
          <a:p>
            <a:pPr marL="0" indent="0" algn="ctr">
              <a:buNone/>
            </a:pPr>
            <a:r>
              <a:rPr lang="en-US" sz="1300" dirty="0">
                <a:solidFill>
                  <a:srgbClr val="D1D5DB"/>
                </a:solidFill>
              </a:rPr>
              <a:t>M. Amridhan Mahdi  ·  Muhana Fawwazy Ilyas</a:t>
            </a:r>
            <a:endParaRPr lang="en-US" sz="1300" dirty="0"/>
          </a:p>
        </p:txBody>
      </p:sp>
      <p:sp>
        <p:nvSpPr>
          <p:cNvPr id="9" name="Text 7"/>
          <p:cNvSpPr/>
          <p:nvPr/>
        </p:nvSpPr>
        <p:spPr>
          <a:xfrm>
            <a:off x="457200" y="3429000"/>
            <a:ext cx="8229600" cy="594360"/>
          </a:xfrm>
          <a:prstGeom prst="rect">
            <a:avLst/>
          </a:prstGeom>
          <a:noFill/>
          <a:ln/>
        </p:spPr>
        <p:txBody>
          <a:bodyPr wrap="square" rtlCol="0" anchor="ctr"/>
          <a:lstStyle/>
          <a:p>
            <a:pPr marL="0" indent="0" algn="ctr">
              <a:buNone/>
            </a:pPr>
            <a:r>
              <a:rPr lang="en-US" sz="1200" dirty="0">
                <a:solidFill>
                  <a:srgbClr val="6B7280"/>
                </a:solidFill>
              </a:rPr>
              <a:t>Dept. of Computer Science and Electronic</a:t>
            </a:r>
            <a:endParaRPr lang="en-US" sz="1200" dirty="0"/>
          </a:p>
          <a:p>
            <a:pPr marL="0" indent="0" algn="ctr">
              <a:buNone/>
            </a:pPr>
            <a:r>
              <a:rPr lang="en-US" sz="1200" dirty="0">
                <a:solidFill>
                  <a:srgbClr val="6B7280"/>
                </a:solidFill>
              </a:rPr>
              <a:t>Universitas Gadjah Mada — Indonesia</a:t>
            </a:r>
            <a:endParaRPr lang="en-US" sz="1200" dirty="0"/>
          </a:p>
        </p:txBody>
      </p:sp>
      <p:sp>
        <p:nvSpPr>
          <p:cNvPr id="10" name="Shape 8"/>
          <p:cNvSpPr/>
          <p:nvPr/>
        </p:nvSpPr>
        <p:spPr>
          <a:xfrm>
            <a:off x="731520" y="4297680"/>
            <a:ext cx="1577340" cy="320040"/>
          </a:xfrm>
          <a:prstGeom prst="rect">
            <a:avLst/>
          </a:prstGeom>
          <a:solidFill>
            <a:srgbClr val="1360A4"/>
          </a:solidFill>
          <a:ln w="12700">
            <a:solidFill>
              <a:srgbClr val="1360A4"/>
            </a:solidFill>
            <a:prstDash val="solid"/>
          </a:ln>
        </p:spPr>
        <p:txBody>
          <a:bodyPr/>
          <a:p/>
        </p:txBody>
      </p:sp>
      <p:sp>
        <p:nvSpPr>
          <p:cNvPr id="11" name="Text 9"/>
          <p:cNvSpPr/>
          <p:nvPr/>
        </p:nvSpPr>
        <p:spPr>
          <a:xfrm>
            <a:off x="731520" y="4297680"/>
            <a:ext cx="1577340" cy="320040"/>
          </a:xfrm>
          <a:prstGeom prst="rect">
            <a:avLst/>
          </a:prstGeom>
          <a:noFill/>
          <a:ln/>
        </p:spPr>
        <p:txBody>
          <a:bodyPr wrap="square" rtlCol="0" anchor="ctr"/>
          <a:lstStyle/>
          <a:p>
            <a:pPr marL="0" indent="0" algn="ctr">
              <a:buNone/>
            </a:pPr>
            <a:r>
              <a:rPr lang="en-US" sz="1000" dirty="0">
                <a:solidFill>
                  <a:srgbClr val="FFFFFF"/>
                </a:solidFill>
              </a:rPr>
              <a:t>Computer Vision</a:t>
            </a:r>
            <a:endParaRPr lang="en-US" sz="1000" dirty="0"/>
          </a:p>
        </p:txBody>
      </p:sp>
      <p:sp>
        <p:nvSpPr>
          <p:cNvPr id="12" name="Shape 10"/>
          <p:cNvSpPr/>
          <p:nvPr/>
        </p:nvSpPr>
        <p:spPr>
          <a:xfrm>
            <a:off x="2418588" y="4297680"/>
            <a:ext cx="1664208" cy="320040"/>
          </a:xfrm>
          <a:prstGeom prst="rect">
            <a:avLst/>
          </a:prstGeom>
          <a:solidFill>
            <a:srgbClr val="1360A4"/>
          </a:solidFill>
          <a:ln w="12700">
            <a:solidFill>
              <a:srgbClr val="1360A4"/>
            </a:solidFill>
            <a:prstDash val="solid"/>
          </a:ln>
        </p:spPr>
        <p:txBody>
          <a:bodyPr/>
          <a:p/>
        </p:txBody>
      </p:sp>
      <p:sp>
        <p:nvSpPr>
          <p:cNvPr id="13" name="Text 11"/>
          <p:cNvSpPr/>
          <p:nvPr/>
        </p:nvSpPr>
        <p:spPr>
          <a:xfrm>
            <a:off x="2418588" y="4297680"/>
            <a:ext cx="1664208" cy="320040"/>
          </a:xfrm>
          <a:prstGeom prst="rect">
            <a:avLst/>
          </a:prstGeom>
          <a:noFill/>
          <a:ln/>
        </p:spPr>
        <p:txBody>
          <a:bodyPr wrap="square" rtlCol="0" anchor="ctr"/>
          <a:lstStyle/>
          <a:p>
            <a:pPr marL="0" indent="0" algn="ctr">
              <a:buNone/>
            </a:pPr>
            <a:r>
              <a:rPr lang="en-US" sz="1000" dirty="0">
                <a:solidFill>
                  <a:srgbClr val="FFFFFF"/>
                </a:solidFill>
              </a:rPr>
              <a:t>Object Detection</a:t>
            </a:r>
            <a:endParaRPr lang="en-US" sz="1000" dirty="0"/>
          </a:p>
        </p:txBody>
      </p:sp>
      <p:sp>
        <p:nvSpPr>
          <p:cNvPr id="14" name="Shape 12"/>
          <p:cNvSpPr/>
          <p:nvPr/>
        </p:nvSpPr>
        <p:spPr>
          <a:xfrm>
            <a:off x="4192524" y="4297680"/>
            <a:ext cx="1577340" cy="320040"/>
          </a:xfrm>
          <a:prstGeom prst="rect">
            <a:avLst/>
          </a:prstGeom>
          <a:solidFill>
            <a:srgbClr val="1360A4"/>
          </a:solidFill>
          <a:ln w="12700">
            <a:solidFill>
              <a:srgbClr val="1360A4"/>
            </a:solidFill>
            <a:prstDash val="solid"/>
          </a:ln>
        </p:spPr>
        <p:txBody>
          <a:bodyPr/>
          <a:p/>
        </p:txBody>
      </p:sp>
      <p:sp>
        <p:nvSpPr>
          <p:cNvPr id="15" name="Text 13"/>
          <p:cNvSpPr/>
          <p:nvPr/>
        </p:nvSpPr>
        <p:spPr>
          <a:xfrm>
            <a:off x="4192524" y="4297680"/>
            <a:ext cx="1577340" cy="320040"/>
          </a:xfrm>
          <a:prstGeom prst="rect">
            <a:avLst/>
          </a:prstGeom>
          <a:noFill/>
          <a:ln/>
        </p:spPr>
        <p:txBody>
          <a:bodyPr wrap="square" rtlCol="0" anchor="ctr"/>
          <a:lstStyle/>
          <a:p>
            <a:pPr marL="0" indent="0" algn="ctr">
              <a:buNone/>
            </a:pPr>
            <a:r>
              <a:rPr lang="en-US" sz="1000" dirty="0">
                <a:solidFill>
                  <a:srgbClr val="FFFFFF"/>
                </a:solidFill>
              </a:rPr>
              <a:t>Object Tracking</a:t>
            </a:r>
            <a:endParaRPr lang="en-US" sz="1000" dirty="0"/>
          </a:p>
        </p:txBody>
      </p:sp>
      <p:sp>
        <p:nvSpPr>
          <p:cNvPr id="16" name="Shape 14"/>
          <p:cNvSpPr/>
          <p:nvPr/>
        </p:nvSpPr>
        <p:spPr>
          <a:xfrm>
            <a:off x="5879592" y="4297680"/>
            <a:ext cx="534924" cy="320040"/>
          </a:xfrm>
          <a:prstGeom prst="rect">
            <a:avLst/>
          </a:prstGeom>
          <a:solidFill>
            <a:srgbClr val="1360A4"/>
          </a:solidFill>
          <a:ln w="12700">
            <a:solidFill>
              <a:srgbClr val="1360A4"/>
            </a:solidFill>
            <a:prstDash val="solid"/>
          </a:ln>
        </p:spPr>
        <p:txBody>
          <a:bodyPr/>
          <a:p/>
        </p:txBody>
      </p:sp>
      <p:sp>
        <p:nvSpPr>
          <p:cNvPr id="17" name="Text 15"/>
          <p:cNvSpPr/>
          <p:nvPr/>
        </p:nvSpPr>
        <p:spPr>
          <a:xfrm>
            <a:off x="5879592" y="4297680"/>
            <a:ext cx="534924" cy="320040"/>
          </a:xfrm>
          <a:prstGeom prst="rect">
            <a:avLst/>
          </a:prstGeom>
          <a:noFill/>
          <a:ln/>
        </p:spPr>
        <p:txBody>
          <a:bodyPr wrap="square" rtlCol="0" anchor="ctr"/>
          <a:lstStyle/>
          <a:p>
            <a:pPr marL="0" indent="0" algn="ctr">
              <a:buNone/>
            </a:pPr>
            <a:r>
              <a:rPr lang="en-US" sz="1000" dirty="0">
                <a:solidFill>
                  <a:srgbClr val="FFFFFF"/>
                </a:solidFill>
              </a:rPr>
              <a:t>ITS</a:t>
            </a:r>
            <a:endParaRPr lang="en-US" sz="1000" dirty="0"/>
          </a:p>
        </p:txBody>
      </p:sp>
      <p:sp>
        <p:nvSpPr>
          <p:cNvPr id="18" name="Shape 16"/>
          <p:cNvSpPr/>
          <p:nvPr/>
        </p:nvSpPr>
        <p:spPr>
          <a:xfrm>
            <a:off x="6524244" y="4297680"/>
            <a:ext cx="2098548" cy="320040"/>
          </a:xfrm>
          <a:prstGeom prst="rect">
            <a:avLst/>
          </a:prstGeom>
          <a:solidFill>
            <a:srgbClr val="1360A4"/>
          </a:solidFill>
          <a:ln w="12700">
            <a:solidFill>
              <a:srgbClr val="1360A4"/>
            </a:solidFill>
            <a:prstDash val="solid"/>
          </a:ln>
        </p:spPr>
        <p:txBody>
          <a:bodyPr/>
          <a:p/>
        </p:txBody>
      </p:sp>
      <p:sp>
        <p:nvSpPr>
          <p:cNvPr id="19" name="Text 17"/>
          <p:cNvSpPr/>
          <p:nvPr/>
        </p:nvSpPr>
        <p:spPr>
          <a:xfrm>
            <a:off x="6524244" y="4297680"/>
            <a:ext cx="2098548" cy="320040"/>
          </a:xfrm>
          <a:prstGeom prst="rect">
            <a:avLst/>
          </a:prstGeom>
          <a:noFill/>
          <a:ln/>
        </p:spPr>
        <p:txBody>
          <a:bodyPr wrap="square" rtlCol="0" anchor="ctr"/>
          <a:lstStyle/>
          <a:p>
            <a:pPr marL="0" indent="0" algn="ctr">
              <a:buNone/>
            </a:pPr>
            <a:r>
              <a:rPr lang="en-US" sz="1000" dirty="0">
                <a:solidFill>
                  <a:srgbClr val="FFFFFF"/>
                </a:solidFill>
              </a:rPr>
              <a:t>Counterflow Detection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Research Background</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01</a:t>
            </a:r>
            <a:endParaRPr lang="en-US" sz="1300" dirty="0"/>
          </a:p>
        </p:txBody>
      </p:sp>
      <p:sp>
        <p:nvSpPr>
          <p:cNvPr id="5" name="Text 3"/>
          <p:cNvSpPr/>
          <p:nvPr/>
        </p:nvSpPr>
        <p:spPr>
          <a:xfrm>
            <a:off x="365760" y="868680"/>
            <a:ext cx="4846320" cy="411480"/>
          </a:xfrm>
          <a:prstGeom prst="rect">
            <a:avLst/>
          </a:prstGeom>
          <a:noFill/>
          <a:ln/>
        </p:spPr>
        <p:txBody>
          <a:bodyPr wrap="square" rtlCol="0" anchor="ctr"/>
          <a:lstStyle/>
          <a:p>
            <a:pPr marL="0" indent="0">
              <a:buNone/>
            </a:pPr>
            <a:r>
              <a:rPr lang="en-US" sz="1600" b="1" dirty="0">
                <a:solidFill>
                  <a:srgbClr val="0B2545"/>
                </a:solidFill>
              </a:rPr>
              <a:t>The Traffic Monitoring Challenge</a:t>
            </a:r>
            <a:endParaRPr lang="en-US" sz="1600" dirty="0"/>
          </a:p>
        </p:txBody>
      </p:sp>
      <p:sp>
        <p:nvSpPr>
          <p:cNvPr id="6" name="Text 4"/>
          <p:cNvSpPr/>
          <p:nvPr/>
        </p:nvSpPr>
        <p:spPr>
          <a:xfrm>
            <a:off x="365760" y="1280160"/>
            <a:ext cx="4846320" cy="3566160"/>
          </a:xfrm>
          <a:prstGeom prst="rect">
            <a:avLst/>
          </a:prstGeom>
          <a:noFill/>
          <a:ln/>
        </p:spPr>
        <p:txBody>
          <a:bodyPr wrap="square" rtlCol="0" anchor="t"/>
          <a:lstStyle/>
          <a:p>
            <a:pPr marL="342900" indent="-342900">
              <a:spcAft>
                <a:spcPts val="600"/>
              </a:spcAft>
              <a:buSzPct val="100000"/>
              <a:buChar char="•"/>
            </a:pPr>
            <a:r>
              <a:rPr lang="en-US" sz="1300" dirty="0">
                <a:solidFill>
                  <a:srgbClr val="374151"/>
                </a:solidFill>
              </a:rPr>
              <a:t>Counterflow incidents — vehicles traveling against lane direction — are a leading cause of intersection accidents</a:t>
            </a:r>
            <a:endParaRPr lang="en-US" sz="1300" dirty="0"/>
          </a:p>
          <a:p>
            <a:pPr marL="342900" indent="-342900">
              <a:spcAft>
                <a:spcPts val="600"/>
              </a:spcAft>
              <a:buSzPct val="100000"/>
              <a:buChar char="•"/>
            </a:pPr>
            <a:r>
              <a:rPr lang="en-US" sz="1300" dirty="0">
                <a:solidFill>
                  <a:srgbClr val="374151"/>
                </a:solidFill>
              </a:rPr>
              <a:t>Indonesian cities such as Bogor, Bekasi, and Tangerang exhibit highly irregular traffic behavior on road networks: vehicles frequently disregard directional signs, lane markings, and yielding rules</a:t>
            </a:r>
            <a:endParaRPr lang="en-US" sz="1300" dirty="0"/>
          </a:p>
          <a:p>
            <a:pPr marL="342900" indent="-342900">
              <a:spcAft>
                <a:spcPts val="600"/>
              </a:spcAft>
              <a:buSzPct val="100000"/>
              <a:buChar char="•"/>
            </a:pPr>
            <a:r>
              <a:rPr lang="en-US" sz="1300" dirty="0">
                <a:solidFill>
                  <a:srgbClr val="374151"/>
                </a:solidFill>
              </a:rPr>
              <a:t>Manual monitoring by human operators is neither scalable nor consistent</a:t>
            </a:r>
            <a:endParaRPr lang="en-US" sz="1300" dirty="0"/>
          </a:p>
          <a:p>
            <a:pPr marL="342900" indent="-342900">
              <a:spcAft>
                <a:spcPts val="600"/>
              </a:spcAft>
              <a:buSzPct val="100000"/>
              <a:buChar char="•"/>
            </a:pPr>
            <a:r>
              <a:rPr lang="en-US" sz="1300" dirty="0">
                <a:solidFill>
                  <a:srgbClr val="374151"/>
                </a:solidFill>
              </a:rPr>
              <a:t>Challenging conditions such as nighttime illumination and peak-hour vehicle density further degrade manual effectiveness</a:t>
            </a:r>
            <a:endParaRPr lang="en-US" sz="1300" dirty="0"/>
          </a:p>
          <a:p>
            <a:pPr marL="342900" indent="-342900">
              <a:spcAft>
                <a:spcPts val="600"/>
              </a:spcAft>
              <a:buSzPct val="100000"/>
              <a:buChar char="•"/>
            </a:pPr>
            <a:r>
              <a:rPr lang="en-US" sz="1300" dirty="0">
                <a:solidFill>
                  <a:srgbClr val="374151"/>
                </a:solidFill>
              </a:rPr>
              <a:t>Classical computer vision methods offer viable, computationally efficient alternatives to deep learning approaches that demand large labeled datasets and high compute resources</a:t>
            </a:r>
            <a:endParaRPr lang="en-US" sz="1300" dirty="0"/>
          </a:p>
        </p:txBody>
      </p:sp>
      <p:sp>
        <p:nvSpPr>
          <p:cNvPr id="7" name="Shape 5"/>
          <p:cNvSpPr/>
          <p:nvPr/>
        </p:nvSpPr>
        <p:spPr>
          <a:xfrm>
            <a:off x="5577840" y="868680"/>
            <a:ext cx="1554480" cy="1645920"/>
          </a:xfrm>
          <a:prstGeom prst="rect">
            <a:avLst/>
          </a:prstGeom>
          <a:solidFill>
            <a:srgbClr val="0B2545"/>
          </a:solidFill>
          <a:ln w="12700">
            <a:solidFill>
              <a:srgbClr val="0B2545"/>
            </a:solidFill>
            <a:prstDash val="solid"/>
          </a:ln>
          <a:effectLst>
            <a:outerShdw blurRad="101600" dist="25400" dir="8100000" algn="bl" rotWithShape="0">
              <a:srgbClr val="000000">
                <a:alpha val="12000"/>
              </a:srgbClr>
            </a:outerShdw>
          </a:effectLst>
        </p:spPr>
        <p:txBody>
          <a:bodyPr/>
          <a:p/>
        </p:txBody>
      </p:sp>
      <p:pic>
        <p:nvPicPr>
          <p:cNvPr id="8" name="Image 0" descr="preencoded.png"/>
          <p:cNvPicPr>
            <a:picLocks noChangeAspect="1"/>
          </p:cNvPicPr>
          <p:nvPr/>
        </p:nvPicPr>
        <p:blipFill>
          <a:blip r:embed="rId3"/>
          <a:stretch>
            <a:fillRect/>
          </a:stretch>
        </p:blipFill>
        <p:spPr>
          <a:xfrm>
            <a:off x="6126480" y="1097280"/>
            <a:ext cx="457200" cy="457200"/>
          </a:xfrm>
          <a:prstGeom prst="rect">
            <a:avLst/>
          </a:prstGeom>
        </p:spPr>
      </p:pic>
      <p:sp>
        <p:nvSpPr>
          <p:cNvPr id="9" name="Text 6"/>
          <p:cNvSpPr/>
          <p:nvPr/>
        </p:nvSpPr>
        <p:spPr>
          <a:xfrm>
            <a:off x="5577840" y="1691640"/>
            <a:ext cx="1554480" cy="640080"/>
          </a:xfrm>
          <a:prstGeom prst="rect">
            <a:avLst/>
          </a:prstGeom>
          <a:noFill/>
          <a:ln/>
        </p:spPr>
        <p:txBody>
          <a:bodyPr wrap="square" rtlCol="0" anchor="ctr"/>
          <a:lstStyle/>
          <a:p>
            <a:pPr marL="0" indent="0" algn="ctr">
              <a:buNone/>
            </a:pPr>
            <a:r>
              <a:rPr lang="en-US" sz="1100" b="1" dirty="0">
                <a:solidFill>
                  <a:srgbClr val="FFFFFF"/>
                </a:solidFill>
              </a:rPr>
              <a:t>Fixed Camera</a:t>
            </a:r>
            <a:endParaRPr lang="en-US" sz="1100" dirty="0"/>
          </a:p>
          <a:p>
            <a:pPr marL="0" indent="0" algn="ctr">
              <a:buNone/>
            </a:pPr>
            <a:r>
              <a:rPr lang="en-US" sz="1100" b="1" dirty="0">
                <a:solidFill>
                  <a:srgbClr val="FFFFFF"/>
                </a:solidFill>
              </a:rPr>
              <a:t>Surveillance</a:t>
            </a:r>
            <a:endParaRPr lang="en-US" sz="1100" dirty="0"/>
          </a:p>
        </p:txBody>
      </p:sp>
      <p:sp>
        <p:nvSpPr>
          <p:cNvPr id="10" name="Shape 7"/>
          <p:cNvSpPr/>
          <p:nvPr/>
        </p:nvSpPr>
        <p:spPr>
          <a:xfrm>
            <a:off x="7315200" y="868680"/>
            <a:ext cx="1554480" cy="1645920"/>
          </a:xfrm>
          <a:prstGeom prst="rect">
            <a:avLst/>
          </a:prstGeom>
          <a:solidFill>
            <a:srgbClr val="B91C1C"/>
          </a:solidFill>
          <a:ln w="12700">
            <a:solidFill>
              <a:srgbClr val="B91C1C"/>
            </a:solidFill>
            <a:prstDash val="solid"/>
          </a:ln>
          <a:effectLst>
            <a:outerShdw blurRad="101600" dist="25400" dir="8100000" algn="bl" rotWithShape="0">
              <a:srgbClr val="000000">
                <a:alpha val="12000"/>
              </a:srgbClr>
            </a:outerShdw>
          </a:effectLst>
        </p:spPr>
        <p:txBody>
          <a:bodyPr/>
          <a:p/>
        </p:txBody>
      </p:sp>
      <p:pic>
        <p:nvPicPr>
          <p:cNvPr id="11" name="Image 1" descr="preencoded.png"/>
          <p:cNvPicPr>
            <a:picLocks noChangeAspect="1"/>
          </p:cNvPicPr>
          <p:nvPr/>
        </p:nvPicPr>
        <p:blipFill>
          <a:blip r:embed="rId4"/>
          <a:stretch>
            <a:fillRect/>
          </a:stretch>
        </p:blipFill>
        <p:spPr>
          <a:xfrm>
            <a:off x="7863840" y="1097280"/>
            <a:ext cx="457200" cy="457200"/>
          </a:xfrm>
          <a:prstGeom prst="rect">
            <a:avLst/>
          </a:prstGeom>
        </p:spPr>
      </p:pic>
      <p:sp>
        <p:nvSpPr>
          <p:cNvPr id="12" name="Text 8"/>
          <p:cNvSpPr/>
          <p:nvPr/>
        </p:nvSpPr>
        <p:spPr>
          <a:xfrm>
            <a:off x="7315200" y="1691640"/>
            <a:ext cx="1554480" cy="640080"/>
          </a:xfrm>
          <a:prstGeom prst="rect">
            <a:avLst/>
          </a:prstGeom>
          <a:noFill/>
          <a:ln/>
        </p:spPr>
        <p:txBody>
          <a:bodyPr wrap="square" rtlCol="0" anchor="ctr"/>
          <a:lstStyle/>
          <a:p>
            <a:pPr marL="0" indent="0" algn="ctr">
              <a:buNone/>
            </a:pPr>
            <a:r>
              <a:rPr lang="en-US" sz="1100" b="1" dirty="0">
                <a:solidFill>
                  <a:srgbClr val="FFFFFF"/>
                </a:solidFill>
              </a:rPr>
              <a:t>Counterflow</a:t>
            </a:r>
            <a:endParaRPr lang="en-US" sz="1100" dirty="0"/>
          </a:p>
          <a:p>
            <a:pPr marL="0" indent="0" algn="ctr">
              <a:buNone/>
            </a:pPr>
            <a:r>
              <a:rPr lang="en-US" sz="1100" b="1" dirty="0">
                <a:solidFill>
                  <a:srgbClr val="FFFFFF"/>
                </a:solidFill>
              </a:rPr>
              <a:t>Incidents</a:t>
            </a:r>
            <a:endParaRPr lang="en-US" sz="1100" dirty="0"/>
          </a:p>
        </p:txBody>
      </p:sp>
      <p:sp>
        <p:nvSpPr>
          <p:cNvPr id="13" name="Shape 9"/>
          <p:cNvSpPr/>
          <p:nvPr/>
        </p:nvSpPr>
        <p:spPr>
          <a:xfrm>
            <a:off x="5577840" y="2834640"/>
            <a:ext cx="1554480" cy="1645920"/>
          </a:xfrm>
          <a:prstGeom prst="rect">
            <a:avLst/>
          </a:prstGeom>
          <a:solidFill>
            <a:srgbClr val="0077B6"/>
          </a:solidFill>
          <a:ln w="12700">
            <a:solidFill>
              <a:srgbClr val="0077B6"/>
            </a:solidFill>
            <a:prstDash val="solid"/>
          </a:ln>
          <a:effectLst>
            <a:outerShdw blurRad="101600" dist="25400" dir="8100000" algn="bl" rotWithShape="0">
              <a:srgbClr val="000000">
                <a:alpha val="12000"/>
              </a:srgbClr>
            </a:outerShdw>
          </a:effectLst>
        </p:spPr>
        <p:txBody>
          <a:bodyPr/>
          <a:p/>
        </p:txBody>
      </p:sp>
      <p:pic>
        <p:nvPicPr>
          <p:cNvPr id="14" name="Image 2" descr="preencoded.png"/>
          <p:cNvPicPr>
            <a:picLocks noChangeAspect="1"/>
          </p:cNvPicPr>
          <p:nvPr/>
        </p:nvPicPr>
        <p:blipFill>
          <a:blip r:embed="rId5"/>
          <a:stretch>
            <a:fillRect/>
          </a:stretch>
        </p:blipFill>
        <p:spPr>
          <a:xfrm>
            <a:off x="6126480" y="3063240"/>
            <a:ext cx="457200" cy="457200"/>
          </a:xfrm>
          <a:prstGeom prst="rect">
            <a:avLst/>
          </a:prstGeom>
        </p:spPr>
      </p:pic>
      <p:sp>
        <p:nvSpPr>
          <p:cNvPr id="15" name="Text 10"/>
          <p:cNvSpPr/>
          <p:nvPr/>
        </p:nvSpPr>
        <p:spPr>
          <a:xfrm>
            <a:off x="5577840" y="3657600"/>
            <a:ext cx="1554480" cy="640080"/>
          </a:xfrm>
          <a:prstGeom prst="rect">
            <a:avLst/>
          </a:prstGeom>
          <a:noFill/>
          <a:ln/>
        </p:spPr>
        <p:txBody>
          <a:bodyPr wrap="square" rtlCol="0" anchor="ctr"/>
          <a:lstStyle/>
          <a:p>
            <a:pPr marL="0" indent="0" algn="ctr">
              <a:buNone/>
            </a:pPr>
            <a:r>
              <a:rPr lang="en-US" sz="1100" b="1" dirty="0">
                <a:solidFill>
                  <a:srgbClr val="FFFFFF"/>
                </a:solidFill>
              </a:rPr>
              <a:t>High Vehicle</a:t>
            </a:r>
            <a:endParaRPr lang="en-US" sz="1100" dirty="0"/>
          </a:p>
          <a:p>
            <a:pPr marL="0" indent="0" algn="ctr">
              <a:buNone/>
            </a:pPr>
            <a:r>
              <a:rPr lang="en-US" sz="1100" b="1" dirty="0">
                <a:solidFill>
                  <a:srgbClr val="FFFFFF"/>
                </a:solidFill>
              </a:rPr>
              <a:t>Density</a:t>
            </a:r>
            <a:endParaRPr lang="en-US" sz="1100" dirty="0"/>
          </a:p>
        </p:txBody>
      </p:sp>
      <p:sp>
        <p:nvSpPr>
          <p:cNvPr id="16" name="Shape 11"/>
          <p:cNvSpPr/>
          <p:nvPr/>
        </p:nvSpPr>
        <p:spPr>
          <a:xfrm>
            <a:off x="7315200" y="2834640"/>
            <a:ext cx="1554480" cy="1645920"/>
          </a:xfrm>
          <a:prstGeom prst="rect">
            <a:avLst/>
          </a:prstGeom>
          <a:solidFill>
            <a:srgbClr val="065F46"/>
          </a:solidFill>
          <a:ln w="12700">
            <a:solidFill>
              <a:srgbClr val="065F46"/>
            </a:solidFill>
            <a:prstDash val="solid"/>
          </a:ln>
          <a:effectLst>
            <a:outerShdw blurRad="101600" dist="25400" dir="8100000" algn="bl" rotWithShape="0">
              <a:srgbClr val="000000">
                <a:alpha val="12000"/>
              </a:srgbClr>
            </a:outerShdw>
          </a:effectLst>
        </p:spPr>
        <p:txBody>
          <a:bodyPr/>
          <a:p/>
        </p:txBody>
      </p:sp>
      <p:pic>
        <p:nvPicPr>
          <p:cNvPr id="17" name="Image 3" descr="preencoded.png"/>
          <p:cNvPicPr>
            <a:picLocks noChangeAspect="1"/>
          </p:cNvPicPr>
          <p:nvPr/>
        </p:nvPicPr>
        <p:blipFill>
          <a:blip r:embed="rId6"/>
          <a:stretch>
            <a:fillRect/>
          </a:stretch>
        </p:blipFill>
        <p:spPr>
          <a:xfrm>
            <a:off x="7863840" y="3063240"/>
            <a:ext cx="457200" cy="457200"/>
          </a:xfrm>
          <a:prstGeom prst="rect">
            <a:avLst/>
          </a:prstGeom>
        </p:spPr>
      </p:pic>
      <p:sp>
        <p:nvSpPr>
          <p:cNvPr id="18" name="Text 12"/>
          <p:cNvSpPr/>
          <p:nvPr/>
        </p:nvSpPr>
        <p:spPr>
          <a:xfrm>
            <a:off x="7315200" y="3657600"/>
            <a:ext cx="1554480" cy="640080"/>
          </a:xfrm>
          <a:prstGeom prst="rect">
            <a:avLst/>
          </a:prstGeom>
          <a:noFill/>
          <a:ln/>
        </p:spPr>
        <p:txBody>
          <a:bodyPr wrap="square" rtlCol="0" anchor="ctr"/>
          <a:lstStyle/>
          <a:p>
            <a:pPr marL="0" indent="0" algn="ctr">
              <a:buNone/>
            </a:pPr>
            <a:r>
              <a:rPr lang="en-US" sz="1100" b="1" dirty="0">
                <a:solidFill>
                  <a:srgbClr val="FFFFFF"/>
                </a:solidFill>
              </a:rPr>
              <a:t>Automated</a:t>
            </a:r>
            <a:endParaRPr lang="en-US" sz="1100" dirty="0"/>
          </a:p>
          <a:p>
            <a:pPr marL="0" indent="0" algn="ctr">
              <a:buNone/>
            </a:pPr>
            <a:r>
              <a:rPr lang="en-US" sz="1100" b="1" dirty="0">
                <a:solidFill>
                  <a:srgbClr val="FFFFFF"/>
                </a:solidFill>
              </a:rPr>
              <a:t>Detection Need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Research Problem &amp; Objectives</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02</a:t>
            </a:r>
            <a:endParaRPr lang="en-US" sz="1300" dirty="0"/>
          </a:p>
        </p:txBody>
      </p:sp>
      <p:sp>
        <p:nvSpPr>
          <p:cNvPr id="5" name="Shape 3"/>
          <p:cNvSpPr/>
          <p:nvPr/>
        </p:nvSpPr>
        <p:spPr>
          <a:xfrm>
            <a:off x="365760" y="868680"/>
            <a:ext cx="8412480" cy="841248"/>
          </a:xfrm>
          <a:prstGeom prst="rect">
            <a:avLst/>
          </a:prstGeom>
          <a:solidFill>
            <a:srgbClr val="EFF6FF"/>
          </a:solidFill>
          <a:ln w="19050">
            <a:solidFill>
              <a:srgbClr val="1A78C2"/>
            </a:solidFill>
            <a:prstDash val="solid"/>
          </a:ln>
        </p:spPr>
        <p:txBody>
          <a:bodyPr/>
          <a:p/>
        </p:txBody>
      </p:sp>
      <p:sp>
        <p:nvSpPr>
          <p:cNvPr id="6" name="Text 4"/>
          <p:cNvSpPr/>
          <p:nvPr/>
        </p:nvSpPr>
        <p:spPr>
          <a:xfrm>
            <a:off x="502920" y="868680"/>
            <a:ext cx="8138160" cy="841248"/>
          </a:xfrm>
          <a:prstGeom prst="rect">
            <a:avLst/>
          </a:prstGeom>
          <a:noFill/>
          <a:ln/>
        </p:spPr>
        <p:txBody>
          <a:bodyPr wrap="square" rtlCol="0" anchor="ctr"/>
          <a:lstStyle/>
          <a:p>
            <a:pPr marL="0" indent="0">
              <a:buNone/>
            </a:pPr>
            <a:r>
              <a:rPr lang="en-US" sz="1300" b="1" dirty="0">
                <a:solidFill>
                  <a:srgbClr val="0B2545"/>
                </a:solidFill>
              </a:rPr>
              <a:t>Problem: </a:t>
            </a:r>
            <a:r>
              <a:rPr lang="en-US" sz="1300" dirty="0">
                <a:solidFill>
                  <a:srgbClr val="374151"/>
                </a:solidFill>
              </a:rPr>
              <a:t>How can counterflow violations at complex intersections be detected automatically and reliably using only classical computer vision, without requiring deep learning or labeled training data?</a:t>
            </a:r>
            <a:endParaRPr lang="en-US" sz="1300" dirty="0"/>
          </a:p>
        </p:txBody>
      </p:sp>
      <p:sp>
        <p:nvSpPr>
          <p:cNvPr id="7" name="Text 5"/>
          <p:cNvSpPr/>
          <p:nvPr/>
        </p:nvSpPr>
        <p:spPr>
          <a:xfrm>
            <a:off x="365760" y="1874520"/>
            <a:ext cx="4114800" cy="320040"/>
          </a:xfrm>
          <a:prstGeom prst="rect">
            <a:avLst/>
          </a:prstGeom>
          <a:noFill/>
          <a:ln/>
        </p:spPr>
        <p:txBody>
          <a:bodyPr wrap="square" rtlCol="0" anchor="ctr"/>
          <a:lstStyle/>
          <a:p>
            <a:pPr marL="0" indent="0">
              <a:buNone/>
            </a:pPr>
            <a:r>
              <a:rPr lang="en-US" sz="1500" b="1" dirty="0">
                <a:solidFill>
                  <a:srgbClr val="0B2545"/>
                </a:solidFill>
              </a:rPr>
              <a:t>System Objectives</a:t>
            </a:r>
            <a:endParaRPr lang="en-US" sz="1500" dirty="0"/>
          </a:p>
        </p:txBody>
      </p:sp>
      <p:sp>
        <p:nvSpPr>
          <p:cNvPr id="8" name="Shape 6"/>
          <p:cNvSpPr/>
          <p:nvPr/>
        </p:nvSpPr>
        <p:spPr>
          <a:xfrm>
            <a:off x="365760" y="2286000"/>
            <a:ext cx="4023360" cy="1097280"/>
          </a:xfrm>
          <a:prstGeom prst="rect">
            <a:avLst/>
          </a:prstGeom>
          <a:solidFill>
            <a:srgbClr val="F0F4F8"/>
          </a:solidFill>
          <a:ln w="12700">
            <a:solidFill>
              <a:srgbClr val="1A78C2"/>
            </a:solidFill>
            <a:prstDash val="solid"/>
          </a:ln>
        </p:spPr>
        <p:txBody>
          <a:bodyPr/>
          <a:p/>
        </p:txBody>
      </p:sp>
      <p:sp>
        <p:nvSpPr>
          <p:cNvPr id="9" name="Shape 7"/>
          <p:cNvSpPr/>
          <p:nvPr/>
        </p:nvSpPr>
        <p:spPr>
          <a:xfrm>
            <a:off x="365760" y="2286000"/>
            <a:ext cx="54864" cy="1097280"/>
          </a:xfrm>
          <a:prstGeom prst="rect">
            <a:avLst/>
          </a:prstGeom>
          <a:solidFill>
            <a:srgbClr val="00B4D8"/>
          </a:solidFill>
          <a:ln w="12700">
            <a:solidFill>
              <a:srgbClr val="00B4D8"/>
            </a:solidFill>
            <a:prstDash val="solid"/>
          </a:ln>
        </p:spPr>
        <p:txBody>
          <a:bodyPr/>
          <a:p/>
        </p:txBody>
      </p:sp>
      <p:sp>
        <p:nvSpPr>
          <p:cNvPr id="10" name="Text 8"/>
          <p:cNvSpPr/>
          <p:nvPr/>
        </p:nvSpPr>
        <p:spPr>
          <a:xfrm>
            <a:off x="530352" y="2359152"/>
            <a:ext cx="3749040" cy="950976"/>
          </a:xfrm>
          <a:prstGeom prst="rect">
            <a:avLst/>
          </a:prstGeom>
          <a:noFill/>
          <a:ln/>
        </p:spPr>
        <p:txBody>
          <a:bodyPr wrap="square" rtlCol="0" anchor="t"/>
          <a:lstStyle/>
          <a:p>
            <a:pPr marL="0" indent="0">
              <a:buNone/>
            </a:pPr>
            <a:r>
              <a:rPr lang="en-US" sz="1200" dirty="0">
                <a:solidFill>
                  <a:srgbClr val="374151"/>
                </a:solidFill>
              </a:rPr>
              <a:t>1. Build an end-to-end classical CV pipeline for counterflow detection — no DL, no labeled data</a:t>
            </a:r>
            <a:endParaRPr lang="en-US" sz="1200" dirty="0"/>
          </a:p>
        </p:txBody>
      </p:sp>
      <p:sp>
        <p:nvSpPr>
          <p:cNvPr id="11" name="Shape 9"/>
          <p:cNvSpPr/>
          <p:nvPr/>
        </p:nvSpPr>
        <p:spPr>
          <a:xfrm>
            <a:off x="4663440" y="2286000"/>
            <a:ext cx="4023360" cy="1097280"/>
          </a:xfrm>
          <a:prstGeom prst="rect">
            <a:avLst/>
          </a:prstGeom>
          <a:solidFill>
            <a:srgbClr val="F0F4F8"/>
          </a:solidFill>
          <a:ln w="12700">
            <a:solidFill>
              <a:srgbClr val="1A78C2"/>
            </a:solidFill>
            <a:prstDash val="solid"/>
          </a:ln>
        </p:spPr>
        <p:txBody>
          <a:bodyPr/>
          <a:p/>
        </p:txBody>
      </p:sp>
      <p:sp>
        <p:nvSpPr>
          <p:cNvPr id="12" name="Shape 10"/>
          <p:cNvSpPr/>
          <p:nvPr/>
        </p:nvSpPr>
        <p:spPr>
          <a:xfrm>
            <a:off x="4663440" y="2286000"/>
            <a:ext cx="54864" cy="1097280"/>
          </a:xfrm>
          <a:prstGeom prst="rect">
            <a:avLst/>
          </a:prstGeom>
          <a:solidFill>
            <a:srgbClr val="00B4D8"/>
          </a:solidFill>
          <a:ln w="12700">
            <a:solidFill>
              <a:srgbClr val="00B4D8"/>
            </a:solidFill>
            <a:prstDash val="solid"/>
          </a:ln>
        </p:spPr>
        <p:txBody>
          <a:bodyPr/>
          <a:p/>
        </p:txBody>
      </p:sp>
      <p:sp>
        <p:nvSpPr>
          <p:cNvPr id="13" name="Text 11"/>
          <p:cNvSpPr/>
          <p:nvPr/>
        </p:nvSpPr>
        <p:spPr>
          <a:xfrm>
            <a:off x="4828032" y="2359152"/>
            <a:ext cx="3749040" cy="950976"/>
          </a:xfrm>
          <a:prstGeom prst="rect">
            <a:avLst/>
          </a:prstGeom>
          <a:noFill/>
          <a:ln/>
        </p:spPr>
        <p:txBody>
          <a:bodyPr wrap="square" rtlCol="0" anchor="t"/>
          <a:lstStyle/>
          <a:p>
            <a:pPr marL="0" indent="0">
              <a:buNone/>
            </a:pPr>
            <a:r>
              <a:rPr lang="en-US" sz="1200" dirty="0">
                <a:solidFill>
                  <a:srgbClr val="374151"/>
                </a:solidFill>
              </a:rPr>
              <a:t>2. Implement configurable ROI-based lane definition adaptable to any intersection geometry</a:t>
            </a:r>
            <a:endParaRPr lang="en-US" sz="1200" dirty="0"/>
          </a:p>
        </p:txBody>
      </p:sp>
      <p:sp>
        <p:nvSpPr>
          <p:cNvPr id="14" name="Shape 12"/>
          <p:cNvSpPr/>
          <p:nvPr/>
        </p:nvSpPr>
        <p:spPr>
          <a:xfrm>
            <a:off x="365760" y="3566160"/>
            <a:ext cx="4023360" cy="1097280"/>
          </a:xfrm>
          <a:prstGeom prst="rect">
            <a:avLst/>
          </a:prstGeom>
          <a:solidFill>
            <a:srgbClr val="F0F4F8"/>
          </a:solidFill>
          <a:ln w="12700">
            <a:solidFill>
              <a:srgbClr val="1A78C2"/>
            </a:solidFill>
            <a:prstDash val="solid"/>
          </a:ln>
        </p:spPr>
        <p:txBody>
          <a:bodyPr/>
          <a:p/>
        </p:txBody>
      </p:sp>
      <p:sp>
        <p:nvSpPr>
          <p:cNvPr id="15" name="Shape 13"/>
          <p:cNvSpPr/>
          <p:nvPr/>
        </p:nvSpPr>
        <p:spPr>
          <a:xfrm>
            <a:off x="365760" y="3566160"/>
            <a:ext cx="54864" cy="1097280"/>
          </a:xfrm>
          <a:prstGeom prst="rect">
            <a:avLst/>
          </a:prstGeom>
          <a:solidFill>
            <a:srgbClr val="00B4D8"/>
          </a:solidFill>
          <a:ln w="12700">
            <a:solidFill>
              <a:srgbClr val="00B4D8"/>
            </a:solidFill>
            <a:prstDash val="solid"/>
          </a:ln>
        </p:spPr>
        <p:txBody>
          <a:bodyPr/>
          <a:p/>
        </p:txBody>
      </p:sp>
      <p:sp>
        <p:nvSpPr>
          <p:cNvPr id="16" name="Text 14"/>
          <p:cNvSpPr/>
          <p:nvPr/>
        </p:nvSpPr>
        <p:spPr>
          <a:xfrm>
            <a:off x="530352" y="3639312"/>
            <a:ext cx="3749040" cy="950976"/>
          </a:xfrm>
          <a:prstGeom prst="rect">
            <a:avLst/>
          </a:prstGeom>
          <a:noFill/>
          <a:ln/>
        </p:spPr>
        <p:txBody>
          <a:bodyPr wrap="square" rtlCol="0" anchor="t"/>
          <a:lstStyle/>
          <a:p>
            <a:pPr marL="0" indent="0">
              <a:buNone/>
            </a:pPr>
            <a:r>
              <a:rPr lang="en-US" sz="1200" dirty="0">
                <a:solidFill>
                  <a:srgbClr val="374151"/>
                </a:solidFill>
              </a:rPr>
              <a:t>3. Evaluate system on 4 CCTV video scenarios: 2 daytime (traffic_day_1, traffic_day_2) and 2 nighttime (traffic_night_1, traffic_night_2) from Bogor, Bekasi, and Tangerang, Indonesia</a:t>
            </a:r>
            <a:endParaRPr lang="en-US" sz="1200" dirty="0"/>
          </a:p>
        </p:txBody>
      </p:sp>
      <p:sp>
        <p:nvSpPr>
          <p:cNvPr id="17" name="Shape 15"/>
          <p:cNvSpPr/>
          <p:nvPr/>
        </p:nvSpPr>
        <p:spPr>
          <a:xfrm>
            <a:off x="4663440" y="3566160"/>
            <a:ext cx="4023360" cy="1097280"/>
          </a:xfrm>
          <a:prstGeom prst="rect">
            <a:avLst/>
          </a:prstGeom>
          <a:solidFill>
            <a:srgbClr val="F0F4F8"/>
          </a:solidFill>
          <a:ln w="12700">
            <a:solidFill>
              <a:srgbClr val="1A78C2"/>
            </a:solidFill>
            <a:prstDash val="solid"/>
          </a:ln>
        </p:spPr>
        <p:txBody>
          <a:bodyPr/>
          <a:p/>
        </p:txBody>
      </p:sp>
      <p:sp>
        <p:nvSpPr>
          <p:cNvPr id="18" name="Shape 16"/>
          <p:cNvSpPr/>
          <p:nvPr/>
        </p:nvSpPr>
        <p:spPr>
          <a:xfrm>
            <a:off x="4663440" y="3566160"/>
            <a:ext cx="54864" cy="1097280"/>
          </a:xfrm>
          <a:prstGeom prst="rect">
            <a:avLst/>
          </a:prstGeom>
          <a:solidFill>
            <a:srgbClr val="00B4D8"/>
          </a:solidFill>
          <a:ln w="12700">
            <a:solidFill>
              <a:srgbClr val="00B4D8"/>
            </a:solidFill>
            <a:prstDash val="solid"/>
          </a:ln>
        </p:spPr>
        <p:txBody>
          <a:bodyPr/>
          <a:p/>
        </p:txBody>
      </p:sp>
      <p:sp>
        <p:nvSpPr>
          <p:cNvPr id="19" name="Text 17"/>
          <p:cNvSpPr/>
          <p:nvPr/>
        </p:nvSpPr>
        <p:spPr>
          <a:xfrm>
            <a:off x="4828032" y="3639312"/>
            <a:ext cx="3749040" cy="950976"/>
          </a:xfrm>
          <a:prstGeom prst="rect">
            <a:avLst/>
          </a:prstGeom>
          <a:noFill/>
          <a:ln/>
        </p:spPr>
        <p:txBody>
          <a:bodyPr wrap="square" rtlCol="0" anchor="t"/>
          <a:lstStyle/>
          <a:p>
            <a:pPr marL="0" indent="0">
              <a:buNone/>
            </a:pPr>
            <a:r>
              <a:rPr lang="en-US" sz="1200" dirty="0">
                <a:solidFill>
                  <a:srgbClr val="374151"/>
                </a:solidFill>
              </a:rPr>
              <a:t>4. Generate per-frame violation logs (CSV) and annotated video for qualitative analysis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Proposed System Overview</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03</a:t>
            </a:r>
            <a:endParaRPr lang="en-US" sz="1300" dirty="0"/>
          </a:p>
        </p:txBody>
      </p:sp>
      <p:sp>
        <p:nvSpPr>
          <p:cNvPr id="5" name="Shape 3"/>
          <p:cNvSpPr/>
          <p:nvPr/>
        </p:nvSpPr>
        <p:spPr>
          <a:xfrm>
            <a:off x="256032" y="1005840"/>
            <a:ext cx="1234440" cy="1554480"/>
          </a:xfrm>
          <a:prstGeom prst="rect">
            <a:avLst/>
          </a:prstGeom>
          <a:solidFill>
            <a:srgbClr val="0B2545"/>
          </a:solidFill>
          <a:ln w="12700">
            <a:solidFill>
              <a:srgbClr val="0B2545"/>
            </a:solidFill>
            <a:prstDash val="solid"/>
          </a:ln>
        </p:spPr>
      </p:sp>
      <p:pic>
        <p:nvPicPr>
          <p:cNvPr id="6" name="Image 0" descr="preencoded.png"/>
          <p:cNvPicPr>
            <a:picLocks noChangeAspect="1"/>
          </p:cNvPicPr>
          <p:nvPr/>
        </p:nvPicPr>
        <p:blipFill>
          <a:blip r:embed="rId3"/>
          <a:stretch>
            <a:fillRect/>
          </a:stretch>
        </p:blipFill>
        <p:spPr>
          <a:xfrm>
            <a:off x="690372" y="1115568"/>
            <a:ext cx="365760" cy="365760"/>
          </a:xfrm>
          <a:prstGeom prst="rect">
            <a:avLst/>
          </a:prstGeom>
        </p:spPr>
      </p:pic>
      <p:sp>
        <p:nvSpPr>
          <p:cNvPr id="7" name="Text 4"/>
          <p:cNvSpPr/>
          <p:nvPr/>
        </p:nvSpPr>
        <p:spPr>
          <a:xfrm>
            <a:off x="256032" y="1627632"/>
            <a:ext cx="1234440" cy="365760"/>
          </a:xfrm>
          <a:prstGeom prst="rect">
            <a:avLst/>
          </a:prstGeom>
          <a:noFill/>
          <a:ln/>
        </p:spPr>
        <p:txBody>
          <a:bodyPr wrap="square" rtlCol="0" anchor="ctr"/>
          <a:lstStyle/>
          <a:p>
            <a:pPr marL="0" indent="0" algn="ctr">
              <a:buNone/>
            </a:pPr>
            <a:r>
              <a:rPr lang="en-US" sz="1150" b="1" dirty="0">
                <a:solidFill>
                  <a:srgbClr val="FFFFFF"/>
                </a:solidFill>
              </a:rPr>
              <a:t>Lane</a:t>
            </a:r>
            <a:endParaRPr lang="en-US" sz="1150" dirty="0"/>
          </a:p>
          <a:p>
            <a:pPr marL="0" indent="0" algn="ctr">
              <a:buNone/>
            </a:pPr>
            <a:r>
              <a:rPr lang="en-US" sz="1150" b="1" dirty="0">
                <a:solidFill>
                  <a:srgbClr val="FFFFFF"/>
                </a:solidFill>
              </a:rPr>
              <a:t>Configuration</a:t>
            </a:r>
            <a:endParaRPr lang="en-US" sz="1150" dirty="0"/>
          </a:p>
        </p:txBody>
      </p:sp>
      <p:sp>
        <p:nvSpPr>
          <p:cNvPr id="8" name="Shape 5"/>
          <p:cNvSpPr/>
          <p:nvPr/>
        </p:nvSpPr>
        <p:spPr>
          <a:xfrm>
            <a:off x="1527048" y="1664208"/>
            <a:ext cx="210312" cy="73152"/>
          </a:xfrm>
          <a:prstGeom prst="rect">
            <a:avLst/>
          </a:prstGeom>
          <a:solidFill>
            <a:srgbClr val="00B4D8"/>
          </a:solidFill>
          <a:ln w="12700">
            <a:solidFill>
              <a:srgbClr val="00B4D8"/>
            </a:solidFill>
            <a:prstDash val="solid"/>
          </a:ln>
        </p:spPr>
      </p:sp>
      <p:sp>
        <p:nvSpPr>
          <p:cNvPr id="9" name="Text 6"/>
          <p:cNvSpPr/>
          <p:nvPr/>
        </p:nvSpPr>
        <p:spPr>
          <a:xfrm>
            <a:off x="256032" y="2670048"/>
            <a:ext cx="1234440" cy="1005840"/>
          </a:xfrm>
          <a:prstGeom prst="rect">
            <a:avLst/>
          </a:prstGeom>
          <a:noFill/>
          <a:ln/>
        </p:spPr>
        <p:txBody>
          <a:bodyPr wrap="square" rtlCol="0" anchor="t"/>
          <a:lstStyle/>
          <a:p>
            <a:pPr marL="0" indent="0" algn="ctr">
              <a:buNone/>
            </a:pPr>
            <a:r>
              <a:rPr lang="en-US" sz="1100" dirty="0">
                <a:solidFill>
                  <a:srgbClr val="6B7280"/>
                </a:solidFill>
              </a:rPr>
              <a:t>Manual ROI polygon</a:t>
            </a:r>
            <a:endParaRPr lang="en-US" sz="1100" dirty="0"/>
          </a:p>
          <a:p>
            <a:pPr marL="0" indent="0" algn="ctr">
              <a:buNone/>
            </a:pPr>
            <a:r>
              <a:rPr lang="en-US" sz="1100" dirty="0">
                <a:solidFill>
                  <a:srgbClr val="6B7280"/>
                </a:solidFill>
              </a:rPr>
              <a:t>&amp; direction vector</a:t>
            </a:r>
            <a:endParaRPr lang="en-US" sz="1100" dirty="0"/>
          </a:p>
          <a:p>
            <a:pPr marL="0" indent="0" algn="ctr">
              <a:buNone/>
            </a:pPr>
            <a:r>
              <a:rPr lang="en-US" sz="1100" dirty="0">
                <a:solidFill>
                  <a:srgbClr val="6B7280"/>
                </a:solidFill>
              </a:rPr>
              <a:t>(lanes.json)</a:t>
            </a:r>
            <a:endParaRPr lang="en-US" sz="1100" dirty="0"/>
          </a:p>
        </p:txBody>
      </p:sp>
      <p:sp>
        <p:nvSpPr>
          <p:cNvPr id="10" name="Shape 7"/>
          <p:cNvSpPr/>
          <p:nvPr/>
        </p:nvSpPr>
        <p:spPr>
          <a:xfrm>
            <a:off x="1737360" y="1005840"/>
            <a:ext cx="1234440" cy="1554480"/>
          </a:xfrm>
          <a:prstGeom prst="rect">
            <a:avLst/>
          </a:prstGeom>
          <a:solidFill>
            <a:srgbClr val="0B2545"/>
          </a:solidFill>
          <a:ln w="12700">
            <a:solidFill>
              <a:srgbClr val="0B2545"/>
            </a:solidFill>
            <a:prstDash val="solid"/>
          </a:ln>
        </p:spPr>
      </p:sp>
      <p:pic>
        <p:nvPicPr>
          <p:cNvPr id="11" name="Image 1" descr="preencoded.png"/>
          <p:cNvPicPr>
            <a:picLocks noChangeAspect="1"/>
          </p:cNvPicPr>
          <p:nvPr/>
        </p:nvPicPr>
        <p:blipFill>
          <a:blip r:embed="rId4"/>
          <a:stretch>
            <a:fillRect/>
          </a:stretch>
        </p:blipFill>
        <p:spPr>
          <a:xfrm>
            <a:off x="2171700" y="1115568"/>
            <a:ext cx="365760" cy="365760"/>
          </a:xfrm>
          <a:prstGeom prst="rect">
            <a:avLst/>
          </a:prstGeom>
        </p:spPr>
      </p:pic>
      <p:sp>
        <p:nvSpPr>
          <p:cNvPr id="12" name="Text 8"/>
          <p:cNvSpPr/>
          <p:nvPr/>
        </p:nvSpPr>
        <p:spPr>
          <a:xfrm>
            <a:off x="1737360" y="1627632"/>
            <a:ext cx="1234440" cy="365760"/>
          </a:xfrm>
          <a:prstGeom prst="rect">
            <a:avLst/>
          </a:prstGeom>
          <a:noFill/>
          <a:ln/>
        </p:spPr>
        <p:txBody>
          <a:bodyPr wrap="square" rtlCol="0" anchor="ctr"/>
          <a:lstStyle/>
          <a:p>
            <a:pPr marL="0" indent="0" algn="ctr">
              <a:buNone/>
            </a:pPr>
            <a:r>
              <a:rPr lang="en-US" sz="1150" b="1" dirty="0">
                <a:solidFill>
                  <a:srgbClr val="FFFFFF"/>
                </a:solidFill>
              </a:rPr>
              <a:t>Vehicle</a:t>
            </a:r>
            <a:endParaRPr lang="en-US" sz="1150" dirty="0"/>
          </a:p>
          <a:p>
            <a:pPr marL="0" indent="0" algn="ctr">
              <a:buNone/>
            </a:pPr>
            <a:r>
              <a:rPr lang="en-US" sz="1150" b="1" dirty="0">
                <a:solidFill>
                  <a:srgbClr val="FFFFFF"/>
                </a:solidFill>
              </a:rPr>
              <a:t>Detection</a:t>
            </a:r>
            <a:endParaRPr lang="en-US" sz="1150" dirty="0"/>
          </a:p>
        </p:txBody>
      </p:sp>
      <p:sp>
        <p:nvSpPr>
          <p:cNvPr id="13" name="Shape 9"/>
          <p:cNvSpPr/>
          <p:nvPr/>
        </p:nvSpPr>
        <p:spPr>
          <a:xfrm>
            <a:off x="3008376" y="1664208"/>
            <a:ext cx="210312" cy="73152"/>
          </a:xfrm>
          <a:prstGeom prst="rect">
            <a:avLst/>
          </a:prstGeom>
          <a:solidFill>
            <a:srgbClr val="00B4D8"/>
          </a:solidFill>
          <a:ln w="12700">
            <a:solidFill>
              <a:srgbClr val="00B4D8"/>
            </a:solidFill>
            <a:prstDash val="solid"/>
          </a:ln>
        </p:spPr>
      </p:sp>
      <p:sp>
        <p:nvSpPr>
          <p:cNvPr id="14" name="Text 10"/>
          <p:cNvSpPr/>
          <p:nvPr/>
        </p:nvSpPr>
        <p:spPr>
          <a:xfrm>
            <a:off x="1737360" y="2670048"/>
            <a:ext cx="1234440" cy="1005840"/>
          </a:xfrm>
          <a:prstGeom prst="rect">
            <a:avLst/>
          </a:prstGeom>
          <a:noFill/>
          <a:ln/>
        </p:spPr>
        <p:txBody>
          <a:bodyPr wrap="square" rtlCol="0" anchor="t"/>
          <a:lstStyle/>
          <a:p>
            <a:pPr marL="0" indent="0" algn="ctr">
              <a:buNone/>
            </a:pPr>
            <a:r>
              <a:rPr lang="en-US" sz="1100" dirty="0">
                <a:solidFill>
                  <a:srgbClr val="6B7280"/>
                </a:solidFill>
              </a:rPr>
              <a:t>MOG2 background</a:t>
            </a:r>
            <a:endParaRPr lang="en-US" sz="1100" dirty="0"/>
          </a:p>
          <a:p>
            <a:pPr marL="0" indent="0" algn="ctr">
              <a:buNone/>
            </a:pPr>
            <a:r>
              <a:rPr lang="en-US" sz="1100" dirty="0">
                <a:solidFill>
                  <a:srgbClr val="6B7280"/>
                </a:solidFill>
              </a:rPr>
              <a:t>subtraction + morphology</a:t>
            </a:r>
            <a:endParaRPr lang="en-US" sz="1100" dirty="0"/>
          </a:p>
          <a:p>
            <a:pPr marL="0" indent="0" algn="ctr">
              <a:buNone/>
            </a:pPr>
            <a:r>
              <a:rPr lang="en-US" sz="1100" dirty="0">
                <a:solidFill>
                  <a:srgbClr val="6B7280"/>
                </a:solidFill>
              </a:rPr>
              <a:t>+ contour detection</a:t>
            </a:r>
            <a:endParaRPr lang="en-US" sz="1100" dirty="0"/>
          </a:p>
        </p:txBody>
      </p:sp>
      <p:sp>
        <p:nvSpPr>
          <p:cNvPr id="15" name="Shape 11"/>
          <p:cNvSpPr/>
          <p:nvPr/>
        </p:nvSpPr>
        <p:spPr>
          <a:xfrm>
            <a:off x="3218688" y="1005840"/>
            <a:ext cx="1234440" cy="1554480"/>
          </a:xfrm>
          <a:prstGeom prst="rect">
            <a:avLst/>
          </a:prstGeom>
          <a:solidFill>
            <a:srgbClr val="0B2545"/>
          </a:solidFill>
          <a:ln w="12700">
            <a:solidFill>
              <a:srgbClr val="0B2545"/>
            </a:solidFill>
            <a:prstDash val="solid"/>
          </a:ln>
        </p:spPr>
      </p:sp>
      <p:pic>
        <p:nvPicPr>
          <p:cNvPr id="16" name="Image 2" descr="preencoded.png"/>
          <p:cNvPicPr>
            <a:picLocks noChangeAspect="1"/>
          </p:cNvPicPr>
          <p:nvPr/>
        </p:nvPicPr>
        <p:blipFill>
          <a:blip r:embed="rId5"/>
          <a:stretch>
            <a:fillRect/>
          </a:stretch>
        </p:blipFill>
        <p:spPr>
          <a:xfrm>
            <a:off x="3653028" y="1115568"/>
            <a:ext cx="365760" cy="365760"/>
          </a:xfrm>
          <a:prstGeom prst="rect">
            <a:avLst/>
          </a:prstGeom>
        </p:spPr>
      </p:pic>
      <p:sp>
        <p:nvSpPr>
          <p:cNvPr id="17" name="Text 12"/>
          <p:cNvSpPr/>
          <p:nvPr/>
        </p:nvSpPr>
        <p:spPr>
          <a:xfrm>
            <a:off x="3218688" y="1627632"/>
            <a:ext cx="1234440" cy="365760"/>
          </a:xfrm>
          <a:prstGeom prst="rect">
            <a:avLst/>
          </a:prstGeom>
          <a:noFill/>
          <a:ln/>
        </p:spPr>
        <p:txBody>
          <a:bodyPr wrap="square" rtlCol="0" anchor="ctr"/>
          <a:lstStyle/>
          <a:p>
            <a:pPr marL="0" indent="0" algn="ctr">
              <a:buNone/>
            </a:pPr>
            <a:r>
              <a:rPr lang="en-US" sz="1150" b="1" dirty="0">
                <a:solidFill>
                  <a:srgbClr val="FFFFFF"/>
                </a:solidFill>
              </a:rPr>
              <a:t>ROI</a:t>
            </a:r>
            <a:endParaRPr lang="en-US" sz="1150" dirty="0"/>
          </a:p>
          <a:p>
            <a:pPr marL="0" indent="0" algn="ctr">
              <a:buNone/>
            </a:pPr>
            <a:r>
              <a:rPr lang="en-US" sz="1150" b="1" dirty="0">
                <a:solidFill>
                  <a:srgbClr val="FFFFFF"/>
                </a:solidFill>
              </a:rPr>
              <a:t>Filtering</a:t>
            </a:r>
            <a:endParaRPr lang="en-US" sz="1150" dirty="0"/>
          </a:p>
        </p:txBody>
      </p:sp>
      <p:sp>
        <p:nvSpPr>
          <p:cNvPr id="18" name="Shape 13"/>
          <p:cNvSpPr/>
          <p:nvPr/>
        </p:nvSpPr>
        <p:spPr>
          <a:xfrm>
            <a:off x="4489704" y="1664208"/>
            <a:ext cx="210312" cy="73152"/>
          </a:xfrm>
          <a:prstGeom prst="rect">
            <a:avLst/>
          </a:prstGeom>
          <a:solidFill>
            <a:srgbClr val="00B4D8"/>
          </a:solidFill>
          <a:ln w="12700">
            <a:solidFill>
              <a:srgbClr val="00B4D8"/>
            </a:solidFill>
            <a:prstDash val="solid"/>
          </a:ln>
        </p:spPr>
      </p:sp>
      <p:sp>
        <p:nvSpPr>
          <p:cNvPr id="19" name="Text 14"/>
          <p:cNvSpPr/>
          <p:nvPr/>
        </p:nvSpPr>
        <p:spPr>
          <a:xfrm>
            <a:off x="3218688" y="2670048"/>
            <a:ext cx="1234440" cy="1005840"/>
          </a:xfrm>
          <a:prstGeom prst="rect">
            <a:avLst/>
          </a:prstGeom>
          <a:noFill/>
          <a:ln/>
        </p:spPr>
        <p:txBody>
          <a:bodyPr wrap="square" rtlCol="0" anchor="t"/>
          <a:lstStyle/>
          <a:p>
            <a:pPr marL="0" indent="0" algn="ctr">
              <a:buNone/>
            </a:pPr>
            <a:r>
              <a:rPr lang="en-US" sz="1100" dirty="0">
                <a:solidFill>
                  <a:srgbClr val="6B7280"/>
                </a:solidFill>
              </a:rPr>
              <a:t>Retain blobs with centroid</a:t>
            </a:r>
            <a:endParaRPr lang="en-US" sz="1100" dirty="0"/>
          </a:p>
          <a:p>
            <a:pPr marL="0" indent="0" algn="ctr">
              <a:buNone/>
            </a:pPr>
            <a:r>
              <a:rPr lang="en-US" sz="1100" dirty="0">
                <a:solidFill>
                  <a:srgbClr val="6B7280"/>
                </a:solidFill>
              </a:rPr>
              <a:t>inside configured</a:t>
            </a:r>
            <a:endParaRPr lang="en-US" sz="1100" dirty="0"/>
          </a:p>
          <a:p>
            <a:pPr marL="0" indent="0" algn="ctr">
              <a:buNone/>
            </a:pPr>
            <a:r>
              <a:rPr lang="en-US" sz="1100" dirty="0">
                <a:solidFill>
                  <a:srgbClr val="6B7280"/>
                </a:solidFill>
              </a:rPr>
              <a:t>lane polygon</a:t>
            </a:r>
            <a:endParaRPr lang="en-US" sz="1100" dirty="0"/>
          </a:p>
        </p:txBody>
      </p:sp>
      <p:sp>
        <p:nvSpPr>
          <p:cNvPr id="20" name="Shape 15"/>
          <p:cNvSpPr/>
          <p:nvPr/>
        </p:nvSpPr>
        <p:spPr>
          <a:xfrm>
            <a:off x="4700016" y="1005840"/>
            <a:ext cx="1234440" cy="1554480"/>
          </a:xfrm>
          <a:prstGeom prst="rect">
            <a:avLst/>
          </a:prstGeom>
          <a:solidFill>
            <a:srgbClr val="0B2545"/>
          </a:solidFill>
          <a:ln w="12700">
            <a:solidFill>
              <a:srgbClr val="0B2545"/>
            </a:solidFill>
            <a:prstDash val="solid"/>
          </a:ln>
        </p:spPr>
      </p:sp>
      <p:pic>
        <p:nvPicPr>
          <p:cNvPr id="21" name="Image 3" descr="preencoded.png"/>
          <p:cNvPicPr>
            <a:picLocks noChangeAspect="1"/>
          </p:cNvPicPr>
          <p:nvPr/>
        </p:nvPicPr>
        <p:blipFill>
          <a:blip r:embed="rId6"/>
          <a:stretch>
            <a:fillRect/>
          </a:stretch>
        </p:blipFill>
        <p:spPr>
          <a:xfrm>
            <a:off x="5134356" y="1115568"/>
            <a:ext cx="365760" cy="365760"/>
          </a:xfrm>
          <a:prstGeom prst="rect">
            <a:avLst/>
          </a:prstGeom>
        </p:spPr>
      </p:pic>
      <p:sp>
        <p:nvSpPr>
          <p:cNvPr id="22" name="Text 16"/>
          <p:cNvSpPr/>
          <p:nvPr/>
        </p:nvSpPr>
        <p:spPr>
          <a:xfrm>
            <a:off x="4700016" y="1627632"/>
            <a:ext cx="1234440" cy="365760"/>
          </a:xfrm>
          <a:prstGeom prst="rect">
            <a:avLst/>
          </a:prstGeom>
          <a:noFill/>
          <a:ln/>
        </p:spPr>
        <p:txBody>
          <a:bodyPr wrap="square" rtlCol="0" anchor="ctr"/>
          <a:lstStyle/>
          <a:p>
            <a:pPr marL="0" indent="0" algn="ctr">
              <a:buNone/>
            </a:pPr>
            <a:r>
              <a:rPr lang="en-US" sz="1150" b="1" dirty="0">
                <a:solidFill>
                  <a:srgbClr val="FFFFFF"/>
                </a:solidFill>
              </a:rPr>
              <a:t>Centroid</a:t>
            </a:r>
            <a:endParaRPr lang="en-US" sz="1150" dirty="0"/>
          </a:p>
          <a:p>
            <a:pPr marL="0" indent="0" algn="ctr">
              <a:buNone/>
            </a:pPr>
            <a:r>
              <a:rPr lang="en-US" sz="1150" b="1" dirty="0">
                <a:solidFill>
                  <a:srgbClr val="FFFFFF"/>
                </a:solidFill>
              </a:rPr>
              <a:t>Tracking</a:t>
            </a:r>
            <a:endParaRPr lang="en-US" sz="1150" dirty="0"/>
          </a:p>
        </p:txBody>
      </p:sp>
      <p:sp>
        <p:nvSpPr>
          <p:cNvPr id="23" name="Shape 17"/>
          <p:cNvSpPr/>
          <p:nvPr/>
        </p:nvSpPr>
        <p:spPr>
          <a:xfrm>
            <a:off x="5971032" y="1664208"/>
            <a:ext cx="210312" cy="73152"/>
          </a:xfrm>
          <a:prstGeom prst="rect">
            <a:avLst/>
          </a:prstGeom>
          <a:solidFill>
            <a:srgbClr val="00B4D8"/>
          </a:solidFill>
          <a:ln w="12700">
            <a:solidFill>
              <a:srgbClr val="00B4D8"/>
            </a:solidFill>
            <a:prstDash val="solid"/>
          </a:ln>
        </p:spPr>
      </p:sp>
      <p:sp>
        <p:nvSpPr>
          <p:cNvPr id="24" name="Text 18"/>
          <p:cNvSpPr/>
          <p:nvPr/>
        </p:nvSpPr>
        <p:spPr>
          <a:xfrm>
            <a:off x="4700016" y="2670048"/>
            <a:ext cx="1234440" cy="1005840"/>
          </a:xfrm>
          <a:prstGeom prst="rect">
            <a:avLst/>
          </a:prstGeom>
          <a:noFill/>
          <a:ln/>
        </p:spPr>
        <p:txBody>
          <a:bodyPr wrap="square" rtlCol="0" anchor="t"/>
          <a:lstStyle/>
          <a:p>
            <a:pPr marL="0" indent="0" algn="ctr">
              <a:buNone/>
            </a:pPr>
            <a:r>
              <a:rPr lang="en-US" sz="1100" dirty="0">
                <a:solidFill>
                  <a:srgbClr val="6B7280"/>
                </a:solidFill>
              </a:rPr>
              <a:t>Greedy nearest-neighbor</a:t>
            </a:r>
            <a:endParaRPr lang="en-US" sz="1100" dirty="0"/>
          </a:p>
          <a:p>
            <a:pPr marL="0" indent="0" algn="ctr">
              <a:buNone/>
            </a:pPr>
            <a:r>
              <a:rPr lang="en-US" sz="1100" dirty="0">
                <a:solidFill>
                  <a:srgbClr val="6B7280"/>
                </a:solidFill>
              </a:rPr>
              <a:t>tracker with unique</a:t>
            </a:r>
            <a:endParaRPr lang="en-US" sz="1100" dirty="0"/>
          </a:p>
          <a:p>
            <a:pPr marL="0" indent="0" algn="ctr">
              <a:buNone/>
            </a:pPr>
            <a:r>
              <a:rPr lang="en-US" sz="1100" dirty="0">
                <a:solidFill>
                  <a:srgbClr val="6B7280"/>
                </a:solidFill>
              </a:rPr>
              <a:t>object IDs</a:t>
            </a:r>
            <a:endParaRPr lang="en-US" sz="1100" dirty="0"/>
          </a:p>
        </p:txBody>
      </p:sp>
      <p:sp>
        <p:nvSpPr>
          <p:cNvPr id="25" name="Shape 19"/>
          <p:cNvSpPr/>
          <p:nvPr/>
        </p:nvSpPr>
        <p:spPr>
          <a:xfrm>
            <a:off x="6181344" y="1005840"/>
            <a:ext cx="1234440" cy="1554480"/>
          </a:xfrm>
          <a:prstGeom prst="rect">
            <a:avLst/>
          </a:prstGeom>
          <a:solidFill>
            <a:srgbClr val="7C3AED"/>
          </a:solidFill>
          <a:ln w="12700">
            <a:solidFill>
              <a:srgbClr val="7C3AED"/>
            </a:solidFill>
            <a:prstDash val="solid"/>
          </a:ln>
        </p:spPr>
      </p:sp>
      <p:pic>
        <p:nvPicPr>
          <p:cNvPr id="26" name="Image 4" descr="preencoded.png"/>
          <p:cNvPicPr>
            <a:picLocks noChangeAspect="1"/>
          </p:cNvPicPr>
          <p:nvPr/>
        </p:nvPicPr>
        <p:blipFill>
          <a:blip r:embed="rId7"/>
          <a:stretch>
            <a:fillRect/>
          </a:stretch>
        </p:blipFill>
        <p:spPr>
          <a:xfrm>
            <a:off x="6615684" y="1115568"/>
            <a:ext cx="365760" cy="365760"/>
          </a:xfrm>
          <a:prstGeom prst="rect">
            <a:avLst/>
          </a:prstGeom>
        </p:spPr>
      </p:pic>
      <p:sp>
        <p:nvSpPr>
          <p:cNvPr id="27" name="Text 20"/>
          <p:cNvSpPr/>
          <p:nvPr/>
        </p:nvSpPr>
        <p:spPr>
          <a:xfrm>
            <a:off x="6181344" y="1627632"/>
            <a:ext cx="1234440" cy="365760"/>
          </a:xfrm>
          <a:prstGeom prst="rect">
            <a:avLst/>
          </a:prstGeom>
          <a:noFill/>
          <a:ln/>
        </p:spPr>
        <p:txBody>
          <a:bodyPr wrap="square" rtlCol="0" anchor="ctr"/>
          <a:lstStyle/>
          <a:p>
            <a:pPr marL="0" indent="0" algn="ctr">
              <a:buNone/>
            </a:pPr>
            <a:r>
              <a:rPr lang="en-US" sz="1150" b="1" dirty="0">
                <a:solidFill>
                  <a:srgbClr val="FFFFFF"/>
                </a:solidFill>
              </a:rPr>
              <a:t>Violation</a:t>
            </a:r>
            <a:endParaRPr lang="en-US" sz="1150" dirty="0"/>
          </a:p>
          <a:p>
            <a:pPr marL="0" indent="0" algn="ctr">
              <a:buNone/>
            </a:pPr>
            <a:r>
              <a:rPr lang="en-US" sz="1150" b="1" dirty="0">
                <a:solidFill>
                  <a:srgbClr val="FFFFFF"/>
                </a:solidFill>
              </a:rPr>
              <a:t>Evaluation</a:t>
            </a:r>
            <a:endParaRPr lang="en-US" sz="1150" dirty="0"/>
          </a:p>
        </p:txBody>
      </p:sp>
      <p:sp>
        <p:nvSpPr>
          <p:cNvPr id="28" name="Shape 21"/>
          <p:cNvSpPr/>
          <p:nvPr/>
        </p:nvSpPr>
        <p:spPr>
          <a:xfrm>
            <a:off x="7452360" y="1664208"/>
            <a:ext cx="210312" cy="73152"/>
          </a:xfrm>
          <a:prstGeom prst="rect">
            <a:avLst/>
          </a:prstGeom>
          <a:solidFill>
            <a:srgbClr val="00B4D8"/>
          </a:solidFill>
          <a:ln w="12700">
            <a:solidFill>
              <a:srgbClr val="00B4D8"/>
            </a:solidFill>
            <a:prstDash val="solid"/>
          </a:ln>
        </p:spPr>
      </p:sp>
      <p:sp>
        <p:nvSpPr>
          <p:cNvPr id="29" name="Text 22"/>
          <p:cNvSpPr/>
          <p:nvPr/>
        </p:nvSpPr>
        <p:spPr>
          <a:xfrm>
            <a:off x="6181344" y="2670048"/>
            <a:ext cx="1234440" cy="1005840"/>
          </a:xfrm>
          <a:prstGeom prst="rect">
            <a:avLst/>
          </a:prstGeom>
          <a:noFill/>
          <a:ln/>
        </p:spPr>
        <p:txBody>
          <a:bodyPr wrap="square" rtlCol="0" anchor="t"/>
          <a:lstStyle/>
          <a:p>
            <a:pPr marL="0" indent="0" algn="ctr">
              <a:buNone/>
            </a:pPr>
            <a:r>
              <a:rPr lang="en-US" sz="1100" dirty="0">
                <a:solidFill>
                  <a:srgbClr val="6B7280"/>
                </a:solidFill>
              </a:rPr>
              <a:t>Cosine similarity of</a:t>
            </a:r>
            <a:endParaRPr lang="en-US" sz="1100" dirty="0"/>
          </a:p>
          <a:p>
            <a:pPr marL="0" indent="0" algn="ctr">
              <a:buNone/>
            </a:pPr>
            <a:r>
              <a:rPr lang="en-US" sz="1100" dirty="0">
                <a:solidFill>
                  <a:srgbClr val="6B7280"/>
                </a:solidFill>
              </a:rPr>
              <a:t>motion vs lane vector</a:t>
            </a:r>
            <a:endParaRPr lang="en-US" sz="1100" dirty="0"/>
          </a:p>
          <a:p>
            <a:pPr marL="0" indent="0" algn="ctr">
              <a:buNone/>
            </a:pPr>
            <a:r>
              <a:rPr lang="en-US" sz="1100" dirty="0">
                <a:solidFill>
                  <a:srgbClr val="6B7280"/>
                </a:solidFill>
              </a:rPr>
              <a:t>+ streak confirmation</a:t>
            </a:r>
            <a:endParaRPr lang="en-US" sz="1100" dirty="0"/>
          </a:p>
        </p:txBody>
      </p:sp>
      <p:sp>
        <p:nvSpPr>
          <p:cNvPr id="30" name="Shape 23"/>
          <p:cNvSpPr/>
          <p:nvPr/>
        </p:nvSpPr>
        <p:spPr>
          <a:xfrm>
            <a:off x="7662672" y="1005840"/>
            <a:ext cx="1234440" cy="1554480"/>
          </a:xfrm>
          <a:prstGeom prst="rect">
            <a:avLst/>
          </a:prstGeom>
          <a:solidFill>
            <a:srgbClr val="0B2545"/>
          </a:solidFill>
          <a:ln w="12700">
            <a:solidFill>
              <a:srgbClr val="0B2545"/>
            </a:solidFill>
            <a:prstDash val="solid"/>
          </a:ln>
        </p:spPr>
      </p:sp>
      <p:pic>
        <p:nvPicPr>
          <p:cNvPr id="31" name="Image 5" descr="preencoded.png"/>
          <p:cNvPicPr>
            <a:picLocks noChangeAspect="1"/>
          </p:cNvPicPr>
          <p:nvPr/>
        </p:nvPicPr>
        <p:blipFill>
          <a:blip r:embed="rId8"/>
          <a:stretch>
            <a:fillRect/>
          </a:stretch>
        </p:blipFill>
        <p:spPr>
          <a:xfrm>
            <a:off x="8097012" y="1115568"/>
            <a:ext cx="365760" cy="365760"/>
          </a:xfrm>
          <a:prstGeom prst="rect">
            <a:avLst/>
          </a:prstGeom>
        </p:spPr>
      </p:pic>
      <p:sp>
        <p:nvSpPr>
          <p:cNvPr id="32" name="Text 24"/>
          <p:cNvSpPr/>
          <p:nvPr/>
        </p:nvSpPr>
        <p:spPr>
          <a:xfrm>
            <a:off x="7662672" y="1627632"/>
            <a:ext cx="1234440" cy="365760"/>
          </a:xfrm>
          <a:prstGeom prst="rect">
            <a:avLst/>
          </a:prstGeom>
          <a:noFill/>
          <a:ln/>
        </p:spPr>
        <p:txBody>
          <a:bodyPr wrap="square" rtlCol="0" anchor="ctr"/>
          <a:lstStyle/>
          <a:p>
            <a:pPr marL="0" indent="0" algn="ctr">
              <a:buNone/>
            </a:pPr>
            <a:r>
              <a:rPr lang="en-US" sz="1150" b="1" dirty="0">
                <a:solidFill>
                  <a:srgbClr val="FFFFFF"/>
                </a:solidFill>
              </a:rPr>
              <a:t>Output</a:t>
            </a:r>
            <a:endParaRPr lang="en-US" sz="1150" dirty="0"/>
          </a:p>
          <a:p>
            <a:pPr marL="0" indent="0" algn="ctr">
              <a:buNone/>
            </a:pPr>
            <a:r>
              <a:rPr lang="en-US" sz="1150" b="1" dirty="0">
                <a:solidFill>
                  <a:srgbClr val="FFFFFF"/>
                </a:solidFill>
              </a:rPr>
              <a:t>Generation</a:t>
            </a:r>
            <a:endParaRPr lang="en-US" sz="1150" dirty="0"/>
          </a:p>
        </p:txBody>
      </p:sp>
      <p:sp>
        <p:nvSpPr>
          <p:cNvPr id="33" name="Text 25"/>
          <p:cNvSpPr/>
          <p:nvPr/>
        </p:nvSpPr>
        <p:spPr>
          <a:xfrm>
            <a:off x="7662672" y="2670048"/>
            <a:ext cx="1234440" cy="1005840"/>
          </a:xfrm>
          <a:prstGeom prst="rect">
            <a:avLst/>
          </a:prstGeom>
          <a:noFill/>
          <a:ln/>
        </p:spPr>
        <p:txBody>
          <a:bodyPr wrap="square" rtlCol="0" anchor="t"/>
          <a:lstStyle/>
          <a:p>
            <a:pPr marL="0" indent="0" algn="ctr">
              <a:buNone/>
            </a:pPr>
            <a:r>
              <a:rPr lang="en-US" sz="1100" dirty="0">
                <a:solidFill>
                  <a:srgbClr val="6B7280"/>
                </a:solidFill>
              </a:rPr>
              <a:t>CSV violation log</a:t>
            </a:r>
            <a:endParaRPr lang="en-US" sz="1100" dirty="0"/>
          </a:p>
          <a:p>
            <a:pPr marL="0" indent="0" algn="ctr">
              <a:buNone/>
            </a:pPr>
            <a:r>
              <a:rPr lang="en-US" sz="1100" dirty="0">
                <a:solidFill>
                  <a:srgbClr val="6B7280"/>
                </a:solidFill>
              </a:rPr>
              <a:t>+ annotated</a:t>
            </a:r>
            <a:endParaRPr lang="en-US" sz="1100" dirty="0"/>
          </a:p>
          <a:p>
            <a:pPr marL="0" indent="0" algn="ctr">
              <a:buNone/>
            </a:pPr>
            <a:r>
              <a:rPr lang="en-US" sz="1100" dirty="0">
                <a:solidFill>
                  <a:srgbClr val="6B7280"/>
                </a:solidFill>
              </a:rPr>
              <a:t>video output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Vehicle Detection Method</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04</a:t>
            </a:r>
            <a:endParaRPr lang="en-US" sz="1300" dirty="0"/>
          </a:p>
        </p:txBody>
      </p:sp>
      <p:sp>
        <p:nvSpPr>
          <p:cNvPr id="5" name="Shape 3"/>
          <p:cNvSpPr/>
          <p:nvPr/>
        </p:nvSpPr>
        <p:spPr>
          <a:xfrm>
            <a:off x="320040" y="914400"/>
            <a:ext cx="2651760" cy="1664208"/>
          </a:xfrm>
          <a:prstGeom prst="rect">
            <a:avLst/>
          </a:prstGeom>
          <a:solidFill>
            <a:srgbClr val="F0F4F8"/>
          </a:solidFill>
          <a:ln w="12700">
            <a:solidFill>
              <a:srgbClr val="D1D5DB"/>
            </a:solidFill>
            <a:prstDash val="solid"/>
          </a:ln>
        </p:spPr>
      </p:sp>
      <p:sp>
        <p:nvSpPr>
          <p:cNvPr id="6" name="Shape 4"/>
          <p:cNvSpPr/>
          <p:nvPr/>
        </p:nvSpPr>
        <p:spPr>
          <a:xfrm>
            <a:off x="320040" y="914400"/>
            <a:ext cx="347472" cy="347472"/>
          </a:xfrm>
          <a:prstGeom prst="rect">
            <a:avLst/>
          </a:prstGeom>
          <a:solidFill>
            <a:srgbClr val="1360A4"/>
          </a:solidFill>
          <a:ln w="12700">
            <a:solidFill>
              <a:srgbClr val="1360A4"/>
            </a:solidFill>
            <a:prstDash val="solid"/>
          </a:ln>
        </p:spPr>
      </p:sp>
      <p:sp>
        <p:nvSpPr>
          <p:cNvPr id="7" name="Text 5"/>
          <p:cNvSpPr/>
          <p:nvPr/>
        </p:nvSpPr>
        <p:spPr>
          <a:xfrm>
            <a:off x="320040" y="9144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8" name="Text 6"/>
          <p:cNvSpPr/>
          <p:nvPr/>
        </p:nvSpPr>
        <p:spPr>
          <a:xfrm>
            <a:off x="731520" y="960120"/>
            <a:ext cx="2148840" cy="347472"/>
          </a:xfrm>
          <a:prstGeom prst="rect">
            <a:avLst/>
          </a:prstGeom>
          <a:noFill/>
          <a:ln/>
        </p:spPr>
        <p:txBody>
          <a:bodyPr wrap="square" rtlCol="0" anchor="ctr"/>
          <a:lstStyle/>
          <a:p>
            <a:pPr marL="0" indent="0">
              <a:buNone/>
            </a:pPr>
            <a:r>
              <a:rPr lang="en-US" sz="1200" b="1" dirty="0">
                <a:solidFill>
                  <a:srgbClr val="0B2545"/>
                </a:solidFill>
              </a:rPr>
              <a:t>Background Subtraction</a:t>
            </a:r>
            <a:endParaRPr lang="en-US" sz="1200" dirty="0"/>
          </a:p>
        </p:txBody>
      </p:sp>
      <p:sp>
        <p:nvSpPr>
          <p:cNvPr id="9" name="Text 7"/>
          <p:cNvSpPr/>
          <p:nvPr/>
        </p:nvSpPr>
        <p:spPr>
          <a:xfrm>
            <a:off x="429768" y="1371600"/>
            <a:ext cx="2423160" cy="1051560"/>
          </a:xfrm>
          <a:prstGeom prst="rect">
            <a:avLst/>
          </a:prstGeom>
          <a:noFill/>
          <a:ln/>
        </p:spPr>
        <p:txBody>
          <a:bodyPr wrap="square" rtlCol="0" anchor="t"/>
          <a:lstStyle/>
          <a:p>
            <a:pPr marL="0" indent="0">
              <a:buNone/>
            </a:pPr>
            <a:r>
              <a:rPr lang="en-US" sz="1100" dirty="0">
                <a:solidFill>
                  <a:srgbClr val="374151"/>
                </a:solidFill>
              </a:rPr>
              <a:t>MOG2 (history=500, varThreshold=25)</a:t>
            </a:r>
            <a:endParaRPr lang="en-US" sz="1100" dirty="0"/>
          </a:p>
          <a:p>
            <a:pPr marL="0" indent="0">
              <a:buNone/>
            </a:pPr>
            <a:r>
              <a:rPr lang="en-US" sz="1100" dirty="0">
                <a:solidFill>
                  <a:srgbClr val="374151"/>
                </a:solidFill>
              </a:rPr>
              <a:t>Generates foreground mask; shadows → 127, foreground → 255</a:t>
            </a:r>
            <a:endParaRPr lang="en-US" sz="1100" dirty="0"/>
          </a:p>
        </p:txBody>
      </p:sp>
      <p:sp>
        <p:nvSpPr>
          <p:cNvPr id="10" name="Shape 8"/>
          <p:cNvSpPr/>
          <p:nvPr/>
        </p:nvSpPr>
        <p:spPr>
          <a:xfrm>
            <a:off x="3172968" y="914400"/>
            <a:ext cx="2651760" cy="1664208"/>
          </a:xfrm>
          <a:prstGeom prst="rect">
            <a:avLst/>
          </a:prstGeom>
          <a:solidFill>
            <a:srgbClr val="F0F4F8"/>
          </a:solidFill>
          <a:ln w="12700">
            <a:solidFill>
              <a:srgbClr val="D1D5DB"/>
            </a:solidFill>
            <a:prstDash val="solid"/>
          </a:ln>
        </p:spPr>
      </p:sp>
      <p:sp>
        <p:nvSpPr>
          <p:cNvPr id="11" name="Shape 9"/>
          <p:cNvSpPr/>
          <p:nvPr/>
        </p:nvSpPr>
        <p:spPr>
          <a:xfrm>
            <a:off x="3172968" y="914400"/>
            <a:ext cx="347472" cy="347472"/>
          </a:xfrm>
          <a:prstGeom prst="rect">
            <a:avLst/>
          </a:prstGeom>
          <a:solidFill>
            <a:srgbClr val="1360A4"/>
          </a:solidFill>
          <a:ln w="12700">
            <a:solidFill>
              <a:srgbClr val="1360A4"/>
            </a:solidFill>
            <a:prstDash val="solid"/>
          </a:ln>
        </p:spPr>
      </p:sp>
      <p:sp>
        <p:nvSpPr>
          <p:cNvPr id="12" name="Text 10"/>
          <p:cNvSpPr/>
          <p:nvPr/>
        </p:nvSpPr>
        <p:spPr>
          <a:xfrm>
            <a:off x="3172968" y="9144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Text 11"/>
          <p:cNvSpPr/>
          <p:nvPr/>
        </p:nvSpPr>
        <p:spPr>
          <a:xfrm>
            <a:off x="3584448" y="960120"/>
            <a:ext cx="2148840" cy="347472"/>
          </a:xfrm>
          <a:prstGeom prst="rect">
            <a:avLst/>
          </a:prstGeom>
          <a:noFill/>
          <a:ln/>
        </p:spPr>
        <p:txBody>
          <a:bodyPr wrap="square" rtlCol="0" anchor="ctr"/>
          <a:lstStyle/>
          <a:p>
            <a:pPr marL="0" indent="0">
              <a:buNone/>
            </a:pPr>
            <a:r>
              <a:rPr lang="en-US" sz="1200" b="1" dirty="0">
                <a:solidFill>
                  <a:srgbClr val="0B2545"/>
                </a:solidFill>
              </a:rPr>
              <a:t>Thresholding (&gt;200)</a:t>
            </a:r>
            <a:endParaRPr lang="en-US" sz="1200" dirty="0"/>
          </a:p>
        </p:txBody>
      </p:sp>
      <p:sp>
        <p:nvSpPr>
          <p:cNvPr id="14" name="Text 12"/>
          <p:cNvSpPr/>
          <p:nvPr/>
        </p:nvSpPr>
        <p:spPr>
          <a:xfrm>
            <a:off x="3282696" y="1371600"/>
            <a:ext cx="2423160" cy="1051560"/>
          </a:xfrm>
          <a:prstGeom prst="rect">
            <a:avLst/>
          </a:prstGeom>
          <a:noFill/>
          <a:ln/>
        </p:spPr>
        <p:txBody>
          <a:bodyPr wrap="square" rtlCol="0" anchor="t"/>
          <a:lstStyle/>
          <a:p>
            <a:pPr marL="0" indent="0">
              <a:buNone/>
            </a:pPr>
            <a:r>
              <a:rPr lang="en-US" sz="1100" dirty="0">
                <a:solidFill>
                  <a:srgbClr val="374151"/>
                </a:solidFill>
              </a:rPr>
              <a:t>Binary threshold removes shadow pixels</a:t>
            </a:r>
            <a:endParaRPr lang="en-US" sz="1100" dirty="0"/>
          </a:p>
          <a:p>
            <a:pPr marL="0" indent="0">
              <a:buNone/>
            </a:pPr>
            <a:r>
              <a:rPr lang="en-US" sz="1100" dirty="0">
                <a:solidFill>
                  <a:srgbClr val="374151"/>
                </a:solidFill>
              </a:rPr>
              <a:t>(127 &lt; 200), retaining only strong foreground blobs</a:t>
            </a:r>
            <a:endParaRPr lang="en-US" sz="1100" dirty="0"/>
          </a:p>
        </p:txBody>
      </p:sp>
      <p:sp>
        <p:nvSpPr>
          <p:cNvPr id="15" name="Shape 13"/>
          <p:cNvSpPr/>
          <p:nvPr/>
        </p:nvSpPr>
        <p:spPr>
          <a:xfrm>
            <a:off x="6025896" y="914400"/>
            <a:ext cx="2651760" cy="1664208"/>
          </a:xfrm>
          <a:prstGeom prst="rect">
            <a:avLst/>
          </a:prstGeom>
          <a:solidFill>
            <a:srgbClr val="F0F4F8"/>
          </a:solidFill>
          <a:ln w="12700">
            <a:solidFill>
              <a:srgbClr val="D1D5DB"/>
            </a:solidFill>
            <a:prstDash val="solid"/>
          </a:ln>
        </p:spPr>
      </p:sp>
      <p:sp>
        <p:nvSpPr>
          <p:cNvPr id="16" name="Shape 14"/>
          <p:cNvSpPr/>
          <p:nvPr/>
        </p:nvSpPr>
        <p:spPr>
          <a:xfrm>
            <a:off x="6025896" y="914400"/>
            <a:ext cx="347472" cy="347472"/>
          </a:xfrm>
          <a:prstGeom prst="rect">
            <a:avLst/>
          </a:prstGeom>
          <a:solidFill>
            <a:srgbClr val="1360A4"/>
          </a:solidFill>
          <a:ln w="12700">
            <a:solidFill>
              <a:srgbClr val="1360A4"/>
            </a:solidFill>
            <a:prstDash val="solid"/>
          </a:ln>
        </p:spPr>
      </p:sp>
      <p:sp>
        <p:nvSpPr>
          <p:cNvPr id="17" name="Text 15"/>
          <p:cNvSpPr/>
          <p:nvPr/>
        </p:nvSpPr>
        <p:spPr>
          <a:xfrm>
            <a:off x="6025896" y="9144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8" name="Text 16"/>
          <p:cNvSpPr/>
          <p:nvPr/>
        </p:nvSpPr>
        <p:spPr>
          <a:xfrm>
            <a:off x="6437376" y="960120"/>
            <a:ext cx="2148840" cy="347472"/>
          </a:xfrm>
          <a:prstGeom prst="rect">
            <a:avLst/>
          </a:prstGeom>
          <a:noFill/>
          <a:ln/>
        </p:spPr>
        <p:txBody>
          <a:bodyPr wrap="square" rtlCol="0" anchor="ctr"/>
          <a:lstStyle/>
          <a:p>
            <a:pPr marL="0" indent="0">
              <a:buNone/>
            </a:pPr>
            <a:r>
              <a:rPr lang="en-US" sz="1200" b="1" dirty="0">
                <a:solidFill>
                  <a:srgbClr val="0B2545"/>
                </a:solidFill>
              </a:rPr>
              <a:t>Morphological Opening</a:t>
            </a:r>
            <a:endParaRPr lang="en-US" sz="1200" dirty="0"/>
          </a:p>
        </p:txBody>
      </p:sp>
      <p:sp>
        <p:nvSpPr>
          <p:cNvPr id="19" name="Text 17"/>
          <p:cNvSpPr/>
          <p:nvPr/>
        </p:nvSpPr>
        <p:spPr>
          <a:xfrm>
            <a:off x="6135624" y="1371600"/>
            <a:ext cx="2423160" cy="1051560"/>
          </a:xfrm>
          <a:prstGeom prst="rect">
            <a:avLst/>
          </a:prstGeom>
          <a:noFill/>
          <a:ln/>
        </p:spPr>
        <p:txBody>
          <a:bodyPr wrap="square" rtlCol="0" anchor="t"/>
          <a:lstStyle/>
          <a:p>
            <a:pPr marL="0" indent="0">
              <a:buNone/>
            </a:pPr>
            <a:r>
              <a:rPr lang="en-US" sz="1100" dirty="0">
                <a:solidFill>
                  <a:srgbClr val="374151"/>
                </a:solidFill>
              </a:rPr>
              <a:t>3×3 kernel: erosion → dilation</a:t>
            </a:r>
            <a:endParaRPr lang="en-US" sz="1100" dirty="0"/>
          </a:p>
          <a:p>
            <a:pPr marL="0" indent="0">
              <a:buNone/>
            </a:pPr>
            <a:r>
              <a:rPr lang="en-US" sz="1100" dirty="0">
                <a:solidFill>
                  <a:srgbClr val="374151"/>
                </a:solidFill>
              </a:rPr>
              <a:t>Removes small noise artifacts from the foreground mask</a:t>
            </a:r>
            <a:endParaRPr lang="en-US" sz="1100" dirty="0"/>
          </a:p>
        </p:txBody>
      </p:sp>
      <p:sp>
        <p:nvSpPr>
          <p:cNvPr id="20" name="Shape 18"/>
          <p:cNvSpPr/>
          <p:nvPr/>
        </p:nvSpPr>
        <p:spPr>
          <a:xfrm>
            <a:off x="320040" y="2788920"/>
            <a:ext cx="2651760" cy="1664208"/>
          </a:xfrm>
          <a:prstGeom prst="rect">
            <a:avLst/>
          </a:prstGeom>
          <a:solidFill>
            <a:srgbClr val="F0F4F8"/>
          </a:solidFill>
          <a:ln w="12700">
            <a:solidFill>
              <a:srgbClr val="D1D5DB"/>
            </a:solidFill>
            <a:prstDash val="solid"/>
          </a:ln>
        </p:spPr>
      </p:sp>
      <p:sp>
        <p:nvSpPr>
          <p:cNvPr id="21" name="Shape 19"/>
          <p:cNvSpPr/>
          <p:nvPr/>
        </p:nvSpPr>
        <p:spPr>
          <a:xfrm>
            <a:off x="320040" y="2788920"/>
            <a:ext cx="347472" cy="347472"/>
          </a:xfrm>
          <a:prstGeom prst="rect">
            <a:avLst/>
          </a:prstGeom>
          <a:solidFill>
            <a:srgbClr val="1360A4"/>
          </a:solidFill>
          <a:ln w="12700">
            <a:solidFill>
              <a:srgbClr val="1360A4"/>
            </a:solidFill>
            <a:prstDash val="solid"/>
          </a:ln>
        </p:spPr>
      </p:sp>
      <p:sp>
        <p:nvSpPr>
          <p:cNvPr id="22" name="Text 20"/>
          <p:cNvSpPr/>
          <p:nvPr/>
        </p:nvSpPr>
        <p:spPr>
          <a:xfrm>
            <a:off x="320040" y="27889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3" name="Text 21"/>
          <p:cNvSpPr/>
          <p:nvPr/>
        </p:nvSpPr>
        <p:spPr>
          <a:xfrm>
            <a:off x="731520" y="2834640"/>
            <a:ext cx="2148840" cy="347472"/>
          </a:xfrm>
          <a:prstGeom prst="rect">
            <a:avLst/>
          </a:prstGeom>
          <a:noFill/>
          <a:ln/>
        </p:spPr>
        <p:txBody>
          <a:bodyPr wrap="square" rtlCol="0" anchor="ctr"/>
          <a:lstStyle/>
          <a:p>
            <a:pPr marL="0" indent="0">
              <a:buNone/>
            </a:pPr>
            <a:r>
              <a:rPr lang="en-US" sz="1200" b="1" dirty="0">
                <a:solidFill>
                  <a:srgbClr val="0B2545"/>
                </a:solidFill>
              </a:rPr>
              <a:t>Morphological Closing</a:t>
            </a:r>
            <a:endParaRPr lang="en-US" sz="1200" dirty="0"/>
          </a:p>
        </p:txBody>
      </p:sp>
      <p:sp>
        <p:nvSpPr>
          <p:cNvPr id="24" name="Text 22"/>
          <p:cNvSpPr/>
          <p:nvPr/>
        </p:nvSpPr>
        <p:spPr>
          <a:xfrm>
            <a:off x="429768" y="3246120"/>
            <a:ext cx="2423160" cy="1051560"/>
          </a:xfrm>
          <a:prstGeom prst="rect">
            <a:avLst/>
          </a:prstGeom>
          <a:noFill/>
          <a:ln/>
        </p:spPr>
        <p:txBody>
          <a:bodyPr wrap="square" rtlCol="0" anchor="t"/>
          <a:lstStyle/>
          <a:p>
            <a:pPr marL="0" indent="0">
              <a:buNone/>
            </a:pPr>
            <a:r>
              <a:rPr lang="en-US" sz="1100" dirty="0">
                <a:solidFill>
                  <a:srgbClr val="374151"/>
                </a:solidFill>
              </a:rPr>
              <a:t>7×7 kernel: dilation → erosion</a:t>
            </a:r>
            <a:endParaRPr lang="en-US" sz="1100" dirty="0"/>
          </a:p>
          <a:p>
            <a:pPr marL="0" indent="0">
              <a:buNone/>
            </a:pPr>
            <a:r>
              <a:rPr lang="en-US" sz="1100" dirty="0">
                <a:solidFill>
                  <a:srgbClr val="374151"/>
                </a:solidFill>
              </a:rPr>
              <a:t>Closes internal holes within vehicle blobs</a:t>
            </a:r>
            <a:endParaRPr lang="en-US" sz="1100" dirty="0"/>
          </a:p>
        </p:txBody>
      </p:sp>
      <p:sp>
        <p:nvSpPr>
          <p:cNvPr id="25" name="Shape 23"/>
          <p:cNvSpPr/>
          <p:nvPr/>
        </p:nvSpPr>
        <p:spPr>
          <a:xfrm>
            <a:off x="3172968" y="2788920"/>
            <a:ext cx="2651760" cy="1664208"/>
          </a:xfrm>
          <a:prstGeom prst="rect">
            <a:avLst/>
          </a:prstGeom>
          <a:solidFill>
            <a:srgbClr val="F0F4F8"/>
          </a:solidFill>
          <a:ln w="12700">
            <a:solidFill>
              <a:srgbClr val="D1D5DB"/>
            </a:solidFill>
            <a:prstDash val="solid"/>
          </a:ln>
        </p:spPr>
      </p:sp>
      <p:sp>
        <p:nvSpPr>
          <p:cNvPr id="26" name="Shape 24"/>
          <p:cNvSpPr/>
          <p:nvPr/>
        </p:nvSpPr>
        <p:spPr>
          <a:xfrm>
            <a:off x="3172968" y="2788920"/>
            <a:ext cx="347472" cy="347472"/>
          </a:xfrm>
          <a:prstGeom prst="rect">
            <a:avLst/>
          </a:prstGeom>
          <a:solidFill>
            <a:srgbClr val="1360A4"/>
          </a:solidFill>
          <a:ln w="12700">
            <a:solidFill>
              <a:srgbClr val="1360A4"/>
            </a:solidFill>
            <a:prstDash val="solid"/>
          </a:ln>
        </p:spPr>
      </p:sp>
      <p:sp>
        <p:nvSpPr>
          <p:cNvPr id="27" name="Text 25"/>
          <p:cNvSpPr/>
          <p:nvPr/>
        </p:nvSpPr>
        <p:spPr>
          <a:xfrm>
            <a:off x="3172968" y="27889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8" name="Text 26"/>
          <p:cNvSpPr/>
          <p:nvPr/>
        </p:nvSpPr>
        <p:spPr>
          <a:xfrm>
            <a:off x="3584448" y="2834640"/>
            <a:ext cx="2148840" cy="347472"/>
          </a:xfrm>
          <a:prstGeom prst="rect">
            <a:avLst/>
          </a:prstGeom>
          <a:noFill/>
          <a:ln/>
        </p:spPr>
        <p:txBody>
          <a:bodyPr wrap="square" rtlCol="0" anchor="ctr"/>
          <a:lstStyle/>
          <a:p>
            <a:pPr marL="0" indent="0">
              <a:buNone/>
            </a:pPr>
            <a:r>
              <a:rPr lang="en-US" sz="1200" b="1" dirty="0">
                <a:solidFill>
                  <a:srgbClr val="0B2545"/>
                </a:solidFill>
              </a:rPr>
              <a:t>Contour Detection</a:t>
            </a:r>
            <a:endParaRPr lang="en-US" sz="1200" dirty="0"/>
          </a:p>
        </p:txBody>
      </p:sp>
      <p:sp>
        <p:nvSpPr>
          <p:cNvPr id="29" name="Text 27"/>
          <p:cNvSpPr/>
          <p:nvPr/>
        </p:nvSpPr>
        <p:spPr>
          <a:xfrm>
            <a:off x="3282696" y="3246120"/>
            <a:ext cx="2423160" cy="1051560"/>
          </a:xfrm>
          <a:prstGeom prst="rect">
            <a:avLst/>
          </a:prstGeom>
          <a:noFill/>
          <a:ln/>
        </p:spPr>
        <p:txBody>
          <a:bodyPr wrap="square" rtlCol="0" anchor="t"/>
          <a:lstStyle/>
          <a:p>
            <a:pPr marL="0" indent="0">
              <a:buNone/>
            </a:pPr>
            <a:r>
              <a:rPr lang="en-US" sz="1100" dirty="0">
                <a:solidFill>
                  <a:srgbClr val="374151"/>
                </a:solidFill>
              </a:rPr>
              <a:t>cv2.findContours (RETR_EXTERNAL)</a:t>
            </a:r>
            <a:endParaRPr lang="en-US" sz="1100" dirty="0"/>
          </a:p>
          <a:p>
            <a:pPr marL="0" indent="0">
              <a:buNone/>
            </a:pPr>
            <a:r>
              <a:rPr lang="en-US" sz="1100" dirty="0">
                <a:solidFill>
                  <a:srgbClr val="374151"/>
                </a:solidFill>
              </a:rPr>
              <a:t>Extracts only external contours, avoiding nested artifacts</a:t>
            </a:r>
            <a:endParaRPr lang="en-US" sz="1100" dirty="0"/>
          </a:p>
        </p:txBody>
      </p:sp>
      <p:sp>
        <p:nvSpPr>
          <p:cNvPr id="30" name="Shape 28"/>
          <p:cNvSpPr/>
          <p:nvPr/>
        </p:nvSpPr>
        <p:spPr>
          <a:xfrm>
            <a:off x="6025896" y="2788920"/>
            <a:ext cx="2651760" cy="1664208"/>
          </a:xfrm>
          <a:prstGeom prst="rect">
            <a:avLst/>
          </a:prstGeom>
          <a:solidFill>
            <a:srgbClr val="F0F4F8"/>
          </a:solidFill>
          <a:ln w="12700">
            <a:solidFill>
              <a:srgbClr val="D1D5DB"/>
            </a:solidFill>
            <a:prstDash val="solid"/>
          </a:ln>
        </p:spPr>
      </p:sp>
      <p:sp>
        <p:nvSpPr>
          <p:cNvPr id="31" name="Shape 29"/>
          <p:cNvSpPr/>
          <p:nvPr/>
        </p:nvSpPr>
        <p:spPr>
          <a:xfrm>
            <a:off x="6025896" y="2788920"/>
            <a:ext cx="347472" cy="347472"/>
          </a:xfrm>
          <a:prstGeom prst="rect">
            <a:avLst/>
          </a:prstGeom>
          <a:solidFill>
            <a:srgbClr val="1360A4"/>
          </a:solidFill>
          <a:ln w="12700">
            <a:solidFill>
              <a:srgbClr val="1360A4"/>
            </a:solidFill>
            <a:prstDash val="solid"/>
          </a:ln>
        </p:spPr>
      </p:sp>
      <p:sp>
        <p:nvSpPr>
          <p:cNvPr id="32" name="Text 30"/>
          <p:cNvSpPr/>
          <p:nvPr/>
        </p:nvSpPr>
        <p:spPr>
          <a:xfrm>
            <a:off x="6025896" y="27889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3" name="Text 31"/>
          <p:cNvSpPr/>
          <p:nvPr/>
        </p:nvSpPr>
        <p:spPr>
          <a:xfrm>
            <a:off x="6437376" y="2834640"/>
            <a:ext cx="2148840" cy="347472"/>
          </a:xfrm>
          <a:prstGeom prst="rect">
            <a:avLst/>
          </a:prstGeom>
          <a:noFill/>
          <a:ln/>
        </p:spPr>
        <p:txBody>
          <a:bodyPr wrap="square" rtlCol="0" anchor="ctr"/>
          <a:lstStyle/>
          <a:p>
            <a:pPr marL="0" indent="0">
              <a:buNone/>
            </a:pPr>
            <a:r>
              <a:rPr lang="en-US" sz="1200" b="1" dirty="0">
                <a:solidFill>
                  <a:srgbClr val="0B2545"/>
                </a:solidFill>
              </a:rPr>
              <a:t>Area Filtering</a:t>
            </a:r>
            <a:endParaRPr lang="en-US" sz="1200" dirty="0"/>
          </a:p>
        </p:txBody>
      </p:sp>
      <p:sp>
        <p:nvSpPr>
          <p:cNvPr id="34" name="Text 32"/>
          <p:cNvSpPr/>
          <p:nvPr/>
        </p:nvSpPr>
        <p:spPr>
          <a:xfrm>
            <a:off x="6135624" y="3246120"/>
            <a:ext cx="2423160" cy="1051560"/>
          </a:xfrm>
          <a:prstGeom prst="rect">
            <a:avLst/>
          </a:prstGeom>
          <a:noFill/>
          <a:ln/>
        </p:spPr>
        <p:txBody>
          <a:bodyPr wrap="square" rtlCol="0" anchor="t"/>
          <a:lstStyle/>
          <a:p>
            <a:pPr marL="0" indent="0">
              <a:buNone/>
            </a:pPr>
            <a:r>
              <a:rPr lang="en-US" sz="1100" dirty="0">
                <a:solidFill>
                  <a:srgbClr val="374151"/>
                </a:solidFill>
              </a:rPr>
              <a:t>Contours with area &lt; 300 px² discarded</a:t>
            </a:r>
            <a:endParaRPr lang="en-US" sz="1100" dirty="0"/>
          </a:p>
          <a:p>
            <a:pPr marL="0" indent="0">
              <a:buNone/>
            </a:pPr>
            <a:r>
              <a:rPr lang="en-US" sz="1100" dirty="0">
                <a:solidFill>
                  <a:srgbClr val="374151"/>
                </a:solidFill>
              </a:rPr>
              <a:t>Each valid contour → Detection object: bbox, centroid, area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Object Tracking Method</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05</a:t>
            </a:r>
            <a:endParaRPr lang="en-US" sz="1300" dirty="0"/>
          </a:p>
        </p:txBody>
      </p:sp>
      <p:sp>
        <p:nvSpPr>
          <p:cNvPr id="5" name="Text 3"/>
          <p:cNvSpPr/>
          <p:nvPr/>
        </p:nvSpPr>
        <p:spPr>
          <a:xfrm>
            <a:off x="365760" y="868680"/>
            <a:ext cx="5029200" cy="411480"/>
          </a:xfrm>
          <a:prstGeom prst="rect">
            <a:avLst/>
          </a:prstGeom>
          <a:noFill/>
          <a:ln/>
        </p:spPr>
        <p:txBody>
          <a:bodyPr wrap="square" rtlCol="0" anchor="ctr"/>
          <a:lstStyle/>
          <a:p>
            <a:pPr marL="0" indent="0">
              <a:buNone/>
            </a:pPr>
            <a:r>
              <a:rPr lang="en-US" sz="1500" b="1" dirty="0">
                <a:solidFill>
                  <a:srgbClr val="0B2545"/>
                </a:solidFill>
              </a:rPr>
              <a:t>Centroid-Based Greedy Nearest-Neighbor Tracker</a:t>
            </a:r>
            <a:endParaRPr lang="en-US" sz="1500" dirty="0"/>
          </a:p>
        </p:txBody>
      </p:sp>
      <p:sp>
        <p:nvSpPr>
          <p:cNvPr id="6" name="Text 4"/>
          <p:cNvSpPr/>
          <p:nvPr/>
        </p:nvSpPr>
        <p:spPr>
          <a:xfrm>
            <a:off x="365760" y="1325880"/>
            <a:ext cx="5029200" cy="2560320"/>
          </a:xfrm>
          <a:prstGeom prst="rect">
            <a:avLst/>
          </a:prstGeom>
          <a:noFill/>
          <a:ln/>
        </p:spPr>
        <p:txBody>
          <a:bodyPr wrap="square" rtlCol="0" anchor="t"/>
          <a:lstStyle/>
          <a:p>
            <a:pPr marL="342900" indent="-342900">
              <a:spcAft>
                <a:spcPts val="600"/>
              </a:spcAft>
              <a:buSzPct val="100000"/>
              <a:buChar char="•"/>
            </a:pPr>
            <a:r>
              <a:rPr lang="en-US" sz="1300" dirty="0">
                <a:solidFill>
                  <a:srgbClr val="374151"/>
                </a:solidFill>
              </a:rPr>
              <a:t>Computes pairwise Euclidean distance matrix between existing track centroids and new detection centroids</a:t>
            </a:r>
            <a:endParaRPr lang="en-US" sz="1300" dirty="0"/>
          </a:p>
          <a:p>
            <a:pPr marL="342900" indent="-342900">
              <a:spcAft>
                <a:spcPts val="600"/>
              </a:spcAft>
              <a:buSzPct val="100000"/>
              <a:buChar char="•"/>
            </a:pPr>
            <a:r>
              <a:rPr lang="en-US" sz="1300" dirty="0">
                <a:solidFill>
                  <a:srgbClr val="374151"/>
                </a:solidFill>
              </a:rPr>
              <a:t>Greedily assigns pairs in ascending distance order</a:t>
            </a:r>
            <a:endParaRPr lang="en-US" sz="1300" dirty="0"/>
          </a:p>
          <a:p>
            <a:pPr marL="342900" indent="-342900">
              <a:spcAft>
                <a:spcPts val="600"/>
              </a:spcAft>
              <a:buSzPct val="100000"/>
              <a:buChar char="•"/>
            </a:pPr>
            <a:r>
              <a:rPr lang="en-US" sz="1300" dirty="0">
                <a:solidFill>
                  <a:srgbClr val="374151"/>
                </a:solidFill>
              </a:rPr>
              <a:t>Maximum association threshold: max_distance = 60.0 px</a:t>
            </a:r>
            <a:endParaRPr lang="en-US" sz="1300" dirty="0"/>
          </a:p>
          <a:p>
            <a:pPr marL="342900" indent="-342900">
              <a:spcAft>
                <a:spcPts val="600"/>
              </a:spcAft>
              <a:buSzPct val="100000"/>
              <a:buChar char="•"/>
            </a:pPr>
            <a:r>
              <a:rPr lang="en-US" sz="1300" dirty="0">
                <a:solidFill>
                  <a:srgbClr val="374151"/>
                </a:solidFill>
              </a:rPr>
              <a:t>Tracks removed after max_disappeared = 15 consecutive unmatched frames</a:t>
            </a:r>
            <a:endParaRPr lang="en-US" sz="1300" dirty="0"/>
          </a:p>
          <a:p>
            <a:pPr marL="342900" indent="-342900">
              <a:spcAft>
                <a:spcPts val="600"/>
              </a:spcAft>
              <a:buSzPct val="100000"/>
              <a:buChar char="•"/>
            </a:pPr>
            <a:r>
              <a:rPr lang="en-US" sz="1300" dirty="0">
                <a:solidFill>
                  <a:srgbClr val="374151"/>
                </a:solidFill>
              </a:rPr>
              <a:t>History deque stores last history_len = 12 centroids per track</a:t>
            </a:r>
            <a:endParaRPr lang="en-US" sz="1300" dirty="0"/>
          </a:p>
        </p:txBody>
      </p:sp>
      <p:sp>
        <p:nvSpPr>
          <p:cNvPr id="7" name="Text 5"/>
          <p:cNvSpPr/>
          <p:nvPr/>
        </p:nvSpPr>
        <p:spPr>
          <a:xfrm>
            <a:off x="5669280" y="868680"/>
            <a:ext cx="3200400" cy="411480"/>
          </a:xfrm>
          <a:prstGeom prst="rect">
            <a:avLst/>
          </a:prstGeom>
          <a:noFill/>
          <a:ln/>
        </p:spPr>
        <p:txBody>
          <a:bodyPr wrap="square" rtlCol="0" anchor="ctr"/>
          <a:lstStyle/>
          <a:p>
            <a:pPr marL="0" indent="0">
              <a:buNone/>
            </a:pPr>
            <a:r>
              <a:rPr lang="en-US" sz="1500" b="1" dirty="0">
                <a:solidFill>
                  <a:srgbClr val="0B2545"/>
                </a:solidFill>
              </a:rPr>
              <a:t>Per-Track Object State</a:t>
            </a:r>
            <a:endParaRPr lang="en-US" sz="1500" dirty="0"/>
          </a:p>
        </p:txBody>
      </p:sp>
      <p:sp>
        <p:nvSpPr>
          <p:cNvPr id="8" name="Shape 6"/>
          <p:cNvSpPr/>
          <p:nvPr/>
        </p:nvSpPr>
        <p:spPr>
          <a:xfrm>
            <a:off x="5669280" y="1325880"/>
            <a:ext cx="1389888" cy="365760"/>
          </a:xfrm>
          <a:prstGeom prst="rect">
            <a:avLst/>
          </a:prstGeom>
          <a:solidFill>
            <a:srgbClr val="0B2545"/>
          </a:solidFill>
          <a:ln w="12700">
            <a:solidFill>
              <a:srgbClr val="0B2545"/>
            </a:solidFill>
            <a:prstDash val="solid"/>
          </a:ln>
        </p:spPr>
      </p:sp>
      <p:sp>
        <p:nvSpPr>
          <p:cNvPr id="9" name="Text 7"/>
          <p:cNvSpPr/>
          <p:nvPr/>
        </p:nvSpPr>
        <p:spPr>
          <a:xfrm>
            <a:off x="5669280" y="1325880"/>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Unique int ID</a:t>
            </a:r>
            <a:endParaRPr lang="en-US" sz="1000" dirty="0"/>
          </a:p>
        </p:txBody>
      </p:sp>
      <p:sp>
        <p:nvSpPr>
          <p:cNvPr id="10" name="Shape 8"/>
          <p:cNvSpPr/>
          <p:nvPr/>
        </p:nvSpPr>
        <p:spPr>
          <a:xfrm>
            <a:off x="7077456" y="1325880"/>
            <a:ext cx="1755648" cy="365760"/>
          </a:xfrm>
          <a:prstGeom prst="rect">
            <a:avLst/>
          </a:prstGeom>
          <a:solidFill>
            <a:srgbClr val="F0F4F8"/>
          </a:solidFill>
          <a:ln w="12700">
            <a:solidFill>
              <a:srgbClr val="D1D5DB"/>
            </a:solidFill>
            <a:prstDash val="solid"/>
          </a:ln>
        </p:spPr>
      </p:sp>
      <p:sp>
        <p:nvSpPr>
          <p:cNvPr id="11" name="Text 9"/>
          <p:cNvSpPr/>
          <p:nvPr/>
        </p:nvSpPr>
        <p:spPr>
          <a:xfrm>
            <a:off x="7077456" y="1325880"/>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Sequential identity label</a:t>
            </a:r>
            <a:endParaRPr lang="en-US" sz="1000" dirty="0"/>
          </a:p>
        </p:txBody>
      </p:sp>
      <p:sp>
        <p:nvSpPr>
          <p:cNvPr id="12" name="Shape 10"/>
          <p:cNvSpPr/>
          <p:nvPr/>
        </p:nvSpPr>
        <p:spPr>
          <a:xfrm>
            <a:off x="5669280" y="1755648"/>
            <a:ext cx="1389888" cy="365760"/>
          </a:xfrm>
          <a:prstGeom prst="rect">
            <a:avLst/>
          </a:prstGeom>
          <a:solidFill>
            <a:srgbClr val="1360A4"/>
          </a:solidFill>
          <a:ln w="12700">
            <a:solidFill>
              <a:srgbClr val="0B2545"/>
            </a:solidFill>
            <a:prstDash val="solid"/>
          </a:ln>
        </p:spPr>
      </p:sp>
      <p:sp>
        <p:nvSpPr>
          <p:cNvPr id="13" name="Text 11"/>
          <p:cNvSpPr/>
          <p:nvPr/>
        </p:nvSpPr>
        <p:spPr>
          <a:xfrm>
            <a:off x="5669280" y="1755648"/>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Current centroid</a:t>
            </a:r>
            <a:endParaRPr lang="en-US" sz="1000" dirty="0"/>
          </a:p>
        </p:txBody>
      </p:sp>
      <p:sp>
        <p:nvSpPr>
          <p:cNvPr id="14" name="Shape 12"/>
          <p:cNvSpPr/>
          <p:nvPr/>
        </p:nvSpPr>
        <p:spPr>
          <a:xfrm>
            <a:off x="7077456" y="1755648"/>
            <a:ext cx="1755648" cy="365760"/>
          </a:xfrm>
          <a:prstGeom prst="rect">
            <a:avLst/>
          </a:prstGeom>
          <a:solidFill>
            <a:srgbClr val="E0F2FE"/>
          </a:solidFill>
          <a:ln w="12700">
            <a:solidFill>
              <a:srgbClr val="D1D5DB"/>
            </a:solidFill>
            <a:prstDash val="solid"/>
          </a:ln>
        </p:spPr>
      </p:sp>
      <p:sp>
        <p:nvSpPr>
          <p:cNvPr id="15" name="Text 13"/>
          <p:cNvSpPr/>
          <p:nvPr/>
        </p:nvSpPr>
        <p:spPr>
          <a:xfrm>
            <a:off x="7077456" y="1755648"/>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Current (cx, cy) position</a:t>
            </a:r>
            <a:endParaRPr lang="en-US" sz="1000" dirty="0"/>
          </a:p>
        </p:txBody>
      </p:sp>
      <p:sp>
        <p:nvSpPr>
          <p:cNvPr id="16" name="Shape 14"/>
          <p:cNvSpPr/>
          <p:nvPr/>
        </p:nvSpPr>
        <p:spPr>
          <a:xfrm>
            <a:off x="5669280" y="2185416"/>
            <a:ext cx="1389888" cy="365760"/>
          </a:xfrm>
          <a:prstGeom prst="rect">
            <a:avLst/>
          </a:prstGeom>
          <a:solidFill>
            <a:srgbClr val="0B2545"/>
          </a:solidFill>
          <a:ln w="12700">
            <a:solidFill>
              <a:srgbClr val="0B2545"/>
            </a:solidFill>
            <a:prstDash val="solid"/>
          </a:ln>
        </p:spPr>
      </p:sp>
      <p:sp>
        <p:nvSpPr>
          <p:cNvPr id="17" name="Text 15"/>
          <p:cNvSpPr/>
          <p:nvPr/>
        </p:nvSpPr>
        <p:spPr>
          <a:xfrm>
            <a:off x="5669280" y="2185416"/>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Bounding box</a:t>
            </a:r>
            <a:endParaRPr lang="en-US" sz="1000" dirty="0"/>
          </a:p>
        </p:txBody>
      </p:sp>
      <p:sp>
        <p:nvSpPr>
          <p:cNvPr id="18" name="Shape 16"/>
          <p:cNvSpPr/>
          <p:nvPr/>
        </p:nvSpPr>
        <p:spPr>
          <a:xfrm>
            <a:off x="7077456" y="2185416"/>
            <a:ext cx="1755648" cy="365760"/>
          </a:xfrm>
          <a:prstGeom prst="rect">
            <a:avLst/>
          </a:prstGeom>
          <a:solidFill>
            <a:srgbClr val="F0F4F8"/>
          </a:solidFill>
          <a:ln w="12700">
            <a:solidFill>
              <a:srgbClr val="D1D5DB"/>
            </a:solidFill>
            <a:prstDash val="solid"/>
          </a:ln>
        </p:spPr>
      </p:sp>
      <p:sp>
        <p:nvSpPr>
          <p:cNvPr id="19" name="Text 17"/>
          <p:cNvSpPr/>
          <p:nvPr/>
        </p:nvSpPr>
        <p:spPr>
          <a:xfrm>
            <a:off x="7077456" y="2185416"/>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Latest bbox coordinates</a:t>
            </a:r>
            <a:endParaRPr lang="en-US" sz="1000" dirty="0"/>
          </a:p>
        </p:txBody>
      </p:sp>
      <p:sp>
        <p:nvSpPr>
          <p:cNvPr id="20" name="Shape 18"/>
          <p:cNvSpPr/>
          <p:nvPr/>
        </p:nvSpPr>
        <p:spPr>
          <a:xfrm>
            <a:off x="5669280" y="2615184"/>
            <a:ext cx="1389888" cy="365760"/>
          </a:xfrm>
          <a:prstGeom prst="rect">
            <a:avLst/>
          </a:prstGeom>
          <a:solidFill>
            <a:srgbClr val="1360A4"/>
          </a:solidFill>
          <a:ln w="12700">
            <a:solidFill>
              <a:srgbClr val="0B2545"/>
            </a:solidFill>
            <a:prstDash val="solid"/>
          </a:ln>
        </p:spPr>
      </p:sp>
      <p:sp>
        <p:nvSpPr>
          <p:cNvPr id="21" name="Text 19"/>
          <p:cNvSpPr/>
          <p:nvPr/>
        </p:nvSpPr>
        <p:spPr>
          <a:xfrm>
            <a:off x="5669280" y="2615184"/>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History deque</a:t>
            </a:r>
            <a:endParaRPr lang="en-US" sz="1000" dirty="0"/>
          </a:p>
        </p:txBody>
      </p:sp>
      <p:sp>
        <p:nvSpPr>
          <p:cNvPr id="22" name="Shape 20"/>
          <p:cNvSpPr/>
          <p:nvPr/>
        </p:nvSpPr>
        <p:spPr>
          <a:xfrm>
            <a:off x="7077456" y="2615184"/>
            <a:ext cx="1755648" cy="365760"/>
          </a:xfrm>
          <a:prstGeom prst="rect">
            <a:avLst/>
          </a:prstGeom>
          <a:solidFill>
            <a:srgbClr val="E0F2FE"/>
          </a:solidFill>
          <a:ln w="12700">
            <a:solidFill>
              <a:srgbClr val="D1D5DB"/>
            </a:solidFill>
            <a:prstDash val="solid"/>
          </a:ln>
        </p:spPr>
      </p:sp>
      <p:sp>
        <p:nvSpPr>
          <p:cNvPr id="23" name="Text 21"/>
          <p:cNvSpPr/>
          <p:nvPr/>
        </p:nvSpPr>
        <p:spPr>
          <a:xfrm>
            <a:off x="7077456" y="2615184"/>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Centroid trajectory (12 pts)</a:t>
            </a:r>
            <a:endParaRPr lang="en-US" sz="1000" dirty="0"/>
          </a:p>
        </p:txBody>
      </p:sp>
      <p:sp>
        <p:nvSpPr>
          <p:cNvPr id="24" name="Shape 22"/>
          <p:cNvSpPr/>
          <p:nvPr/>
        </p:nvSpPr>
        <p:spPr>
          <a:xfrm>
            <a:off x="5669280" y="3044952"/>
            <a:ext cx="1389888" cy="365760"/>
          </a:xfrm>
          <a:prstGeom prst="rect">
            <a:avLst/>
          </a:prstGeom>
          <a:solidFill>
            <a:srgbClr val="0B2545"/>
          </a:solidFill>
          <a:ln w="12700">
            <a:solidFill>
              <a:srgbClr val="0B2545"/>
            </a:solidFill>
            <a:prstDash val="solid"/>
          </a:ln>
        </p:spPr>
      </p:sp>
      <p:sp>
        <p:nvSpPr>
          <p:cNvPr id="25" name="Text 23"/>
          <p:cNvSpPr/>
          <p:nvPr/>
        </p:nvSpPr>
        <p:spPr>
          <a:xfrm>
            <a:off x="5669280" y="3044952"/>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Lost counter</a:t>
            </a:r>
            <a:endParaRPr lang="en-US" sz="1000" dirty="0"/>
          </a:p>
        </p:txBody>
      </p:sp>
      <p:sp>
        <p:nvSpPr>
          <p:cNvPr id="26" name="Shape 24"/>
          <p:cNvSpPr/>
          <p:nvPr/>
        </p:nvSpPr>
        <p:spPr>
          <a:xfrm>
            <a:off x="7077456" y="3044952"/>
            <a:ext cx="1755648" cy="365760"/>
          </a:xfrm>
          <a:prstGeom prst="rect">
            <a:avLst/>
          </a:prstGeom>
          <a:solidFill>
            <a:srgbClr val="F0F4F8"/>
          </a:solidFill>
          <a:ln w="12700">
            <a:solidFill>
              <a:srgbClr val="D1D5DB"/>
            </a:solidFill>
            <a:prstDash val="solid"/>
          </a:ln>
        </p:spPr>
      </p:sp>
      <p:sp>
        <p:nvSpPr>
          <p:cNvPr id="27" name="Text 25"/>
          <p:cNvSpPr/>
          <p:nvPr/>
        </p:nvSpPr>
        <p:spPr>
          <a:xfrm>
            <a:off x="7077456" y="3044952"/>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Consecutive unmatched frames</a:t>
            </a:r>
            <a:endParaRPr lang="en-US" sz="1000" dirty="0"/>
          </a:p>
        </p:txBody>
      </p:sp>
      <p:sp>
        <p:nvSpPr>
          <p:cNvPr id="28" name="Shape 26"/>
          <p:cNvSpPr/>
          <p:nvPr/>
        </p:nvSpPr>
        <p:spPr>
          <a:xfrm>
            <a:off x="5669280" y="3474720"/>
            <a:ext cx="1389888" cy="365760"/>
          </a:xfrm>
          <a:prstGeom prst="rect">
            <a:avLst/>
          </a:prstGeom>
          <a:solidFill>
            <a:srgbClr val="1360A4"/>
          </a:solidFill>
          <a:ln w="12700">
            <a:solidFill>
              <a:srgbClr val="0B2545"/>
            </a:solidFill>
            <a:prstDash val="solid"/>
          </a:ln>
        </p:spPr>
      </p:sp>
      <p:sp>
        <p:nvSpPr>
          <p:cNvPr id="29" name="Text 27"/>
          <p:cNvSpPr/>
          <p:nvPr/>
        </p:nvSpPr>
        <p:spPr>
          <a:xfrm>
            <a:off x="5669280" y="3474720"/>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Lane assignment</a:t>
            </a:r>
            <a:endParaRPr lang="en-US" sz="1000" dirty="0"/>
          </a:p>
        </p:txBody>
      </p:sp>
      <p:sp>
        <p:nvSpPr>
          <p:cNvPr id="30" name="Shape 28"/>
          <p:cNvSpPr/>
          <p:nvPr/>
        </p:nvSpPr>
        <p:spPr>
          <a:xfrm>
            <a:off x="7077456" y="3474720"/>
            <a:ext cx="1755648" cy="365760"/>
          </a:xfrm>
          <a:prstGeom prst="rect">
            <a:avLst/>
          </a:prstGeom>
          <a:solidFill>
            <a:srgbClr val="E0F2FE"/>
          </a:solidFill>
          <a:ln w="12700">
            <a:solidFill>
              <a:srgbClr val="D1D5DB"/>
            </a:solidFill>
            <a:prstDash val="solid"/>
          </a:ln>
        </p:spPr>
      </p:sp>
      <p:sp>
        <p:nvSpPr>
          <p:cNvPr id="31" name="Text 29"/>
          <p:cNvSpPr/>
          <p:nvPr/>
        </p:nvSpPr>
        <p:spPr>
          <a:xfrm>
            <a:off x="7077456" y="3474720"/>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Assigned lane polygon ID</a:t>
            </a:r>
            <a:endParaRPr lang="en-US" sz="1000" dirty="0"/>
          </a:p>
        </p:txBody>
      </p:sp>
      <p:sp>
        <p:nvSpPr>
          <p:cNvPr id="32" name="Shape 30"/>
          <p:cNvSpPr/>
          <p:nvPr/>
        </p:nvSpPr>
        <p:spPr>
          <a:xfrm>
            <a:off x="5669280" y="3904488"/>
            <a:ext cx="1389888" cy="365760"/>
          </a:xfrm>
          <a:prstGeom prst="rect">
            <a:avLst/>
          </a:prstGeom>
          <a:solidFill>
            <a:srgbClr val="0B2545"/>
          </a:solidFill>
          <a:ln w="12700">
            <a:solidFill>
              <a:srgbClr val="0B2545"/>
            </a:solidFill>
            <a:prstDash val="solid"/>
          </a:ln>
        </p:spPr>
      </p:sp>
      <p:sp>
        <p:nvSpPr>
          <p:cNvPr id="33" name="Text 31"/>
          <p:cNvSpPr/>
          <p:nvPr/>
        </p:nvSpPr>
        <p:spPr>
          <a:xfrm>
            <a:off x="5669280" y="3904488"/>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Status</a:t>
            </a:r>
            <a:endParaRPr lang="en-US" sz="1000" dirty="0"/>
          </a:p>
        </p:txBody>
      </p:sp>
      <p:sp>
        <p:nvSpPr>
          <p:cNvPr id="34" name="Shape 32"/>
          <p:cNvSpPr/>
          <p:nvPr/>
        </p:nvSpPr>
        <p:spPr>
          <a:xfrm>
            <a:off x="7077456" y="3904488"/>
            <a:ext cx="1755648" cy="365760"/>
          </a:xfrm>
          <a:prstGeom prst="rect">
            <a:avLst/>
          </a:prstGeom>
          <a:solidFill>
            <a:srgbClr val="F0F4F8"/>
          </a:solidFill>
          <a:ln w="12700">
            <a:solidFill>
              <a:srgbClr val="D1D5DB"/>
            </a:solidFill>
            <a:prstDash val="solid"/>
          </a:ln>
        </p:spPr>
      </p:sp>
      <p:sp>
        <p:nvSpPr>
          <p:cNvPr id="35" name="Text 33"/>
          <p:cNvSpPr/>
          <p:nvPr/>
        </p:nvSpPr>
        <p:spPr>
          <a:xfrm>
            <a:off x="7077456" y="3904488"/>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unknown / normal / violation</a:t>
            </a:r>
            <a:endParaRPr lang="en-US" sz="1000" dirty="0"/>
          </a:p>
        </p:txBody>
      </p:sp>
      <p:sp>
        <p:nvSpPr>
          <p:cNvPr id="36" name="Shape 34"/>
          <p:cNvSpPr/>
          <p:nvPr/>
        </p:nvSpPr>
        <p:spPr>
          <a:xfrm>
            <a:off x="5669280" y="4334256"/>
            <a:ext cx="1389888" cy="365760"/>
          </a:xfrm>
          <a:prstGeom prst="rect">
            <a:avLst/>
          </a:prstGeom>
          <a:solidFill>
            <a:srgbClr val="1360A4"/>
          </a:solidFill>
          <a:ln w="12700">
            <a:solidFill>
              <a:srgbClr val="0B2545"/>
            </a:solidFill>
            <a:prstDash val="solid"/>
          </a:ln>
        </p:spPr>
      </p:sp>
      <p:sp>
        <p:nvSpPr>
          <p:cNvPr id="37" name="Text 35"/>
          <p:cNvSpPr/>
          <p:nvPr/>
        </p:nvSpPr>
        <p:spPr>
          <a:xfrm>
            <a:off x="5669280" y="4334256"/>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Violation streak</a:t>
            </a:r>
            <a:endParaRPr lang="en-US" sz="1000" dirty="0"/>
          </a:p>
        </p:txBody>
      </p:sp>
      <p:sp>
        <p:nvSpPr>
          <p:cNvPr id="38" name="Shape 36"/>
          <p:cNvSpPr/>
          <p:nvPr/>
        </p:nvSpPr>
        <p:spPr>
          <a:xfrm>
            <a:off x="7077456" y="4334256"/>
            <a:ext cx="1755648" cy="365760"/>
          </a:xfrm>
          <a:prstGeom prst="rect">
            <a:avLst/>
          </a:prstGeom>
          <a:solidFill>
            <a:srgbClr val="E0F2FE"/>
          </a:solidFill>
          <a:ln w="12700">
            <a:solidFill>
              <a:srgbClr val="D1D5DB"/>
            </a:solidFill>
            <a:prstDash val="solid"/>
          </a:ln>
        </p:spPr>
      </p:sp>
      <p:sp>
        <p:nvSpPr>
          <p:cNvPr id="39" name="Text 37"/>
          <p:cNvSpPr/>
          <p:nvPr/>
        </p:nvSpPr>
        <p:spPr>
          <a:xfrm>
            <a:off x="7077456" y="4334256"/>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Consecutive counterflow frames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Counterflow Violation Detection Logic</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06</a:t>
            </a:r>
            <a:endParaRPr lang="en-US" sz="1300" dirty="0"/>
          </a:p>
        </p:txBody>
      </p:sp>
      <p:sp>
        <p:nvSpPr>
          <p:cNvPr id="5" name="Shape 3"/>
          <p:cNvSpPr/>
          <p:nvPr/>
        </p:nvSpPr>
        <p:spPr>
          <a:xfrm>
            <a:off x="320040" y="914400"/>
            <a:ext cx="4114800" cy="1719072"/>
          </a:xfrm>
          <a:prstGeom prst="rect">
            <a:avLst/>
          </a:prstGeom>
          <a:solidFill>
            <a:srgbClr val="F8FAFC"/>
          </a:solidFill>
          <a:ln w="12700">
            <a:solidFill>
              <a:srgbClr val="D1D5DB"/>
            </a:solidFill>
            <a:prstDash val="solid"/>
          </a:ln>
        </p:spPr>
        <p:txBody>
          <a:bodyPr/>
          <a:p/>
        </p:txBody>
      </p:sp>
      <p:sp>
        <p:nvSpPr>
          <p:cNvPr id="6" name="Shape 4"/>
          <p:cNvSpPr/>
          <p:nvPr/>
        </p:nvSpPr>
        <p:spPr>
          <a:xfrm>
            <a:off x="320040" y="914400"/>
            <a:ext cx="4114800" cy="384048"/>
          </a:xfrm>
          <a:prstGeom prst="rect">
            <a:avLst/>
          </a:prstGeom>
          <a:solidFill>
            <a:srgbClr val="0B2545"/>
          </a:solidFill>
          <a:ln w="12700">
            <a:solidFill>
              <a:srgbClr val="0B2545"/>
            </a:solidFill>
            <a:prstDash val="solid"/>
          </a:ln>
        </p:spPr>
        <p:txBody>
          <a:bodyPr/>
          <a:p/>
        </p:txBody>
      </p:sp>
      <p:sp>
        <p:nvSpPr>
          <p:cNvPr id="7" name="Text 5"/>
          <p:cNvSpPr/>
          <p:nvPr/>
        </p:nvSpPr>
        <p:spPr>
          <a:xfrm>
            <a:off x="429768" y="914400"/>
            <a:ext cx="3895344" cy="384048"/>
          </a:xfrm>
          <a:prstGeom prst="rect">
            <a:avLst/>
          </a:prstGeom>
          <a:noFill/>
          <a:ln/>
        </p:spPr>
        <p:txBody>
          <a:bodyPr wrap="square" lIns="0" tIns="0" rIns="0" bIns="0" rtlCol="0" anchor="ctr"/>
          <a:lstStyle/>
          <a:p>
            <a:pPr marL="0" indent="0">
              <a:buNone/>
            </a:pPr>
            <a:r>
              <a:rPr lang="en-US" sz="1200" b="1" dirty="0">
                <a:solidFill>
                  <a:srgbClr val="FFFFFF"/>
                </a:solidFill>
              </a:rPr>
              <a:t>Step 1: Motion Vector</a:t>
            </a:r>
            <a:endParaRPr lang="en-US" sz="1200" dirty="0"/>
          </a:p>
        </p:txBody>
      </p:sp>
      <p:sp>
        <p:nvSpPr>
          <p:cNvPr id="8" name="Text 6"/>
          <p:cNvSpPr/>
          <p:nvPr/>
        </p:nvSpPr>
        <p:spPr>
          <a:xfrm>
            <a:off x="429768" y="1371600"/>
            <a:ext cx="3895344" cy="1188720"/>
          </a:xfrm>
          <a:prstGeom prst="rect">
            <a:avLst/>
          </a:prstGeom>
          <a:noFill/>
          <a:ln/>
        </p:spPr>
        <p:txBody>
          <a:bodyPr wrap="square" rtlCol="0" anchor="t"/>
          <a:lstStyle/>
          <a:p>
            <a:pPr marL="0" indent="0">
              <a:buNone/>
            </a:pPr>
            <a:r>
              <a:rPr lang="en-US" sz="1200" dirty="0">
                <a:solidFill>
                  <a:srgbClr val="374151"/>
                </a:solidFill>
              </a:rPr>
              <a:t>vₜ = cₜ − cₜ₋ₖ   (k = 3 frames)</a:t>
            </a:r>
            <a:endParaRPr lang="en-US" sz="1200" dirty="0"/>
          </a:p>
          <a:p>
            <a:pPr marL="0" indent="0">
              <a:buNone/>
            </a:pPr>
            <a:r>
              <a:rPr lang="en-US" sz="1200" dirty="0">
                <a:solidFill>
                  <a:srgbClr val="374151"/>
                </a:solidFill>
              </a:rPr>
              <a:t>If ‖vₜ‖ &lt; τₘ = 2.0 px → object is stationary, skip evaluation</a:t>
            </a:r>
            <a:endParaRPr lang="en-US" sz="1200" dirty="0"/>
          </a:p>
        </p:txBody>
      </p:sp>
      <p:sp>
        <p:nvSpPr>
          <p:cNvPr id="9" name="Shape 7"/>
          <p:cNvSpPr/>
          <p:nvPr/>
        </p:nvSpPr>
        <p:spPr>
          <a:xfrm>
            <a:off x="4709160" y="914400"/>
            <a:ext cx="4114800" cy="1719072"/>
          </a:xfrm>
          <a:prstGeom prst="rect">
            <a:avLst/>
          </a:prstGeom>
          <a:solidFill>
            <a:srgbClr val="F8FAFC"/>
          </a:solidFill>
          <a:ln w="12700">
            <a:solidFill>
              <a:srgbClr val="D1D5DB"/>
            </a:solidFill>
            <a:prstDash val="solid"/>
          </a:ln>
        </p:spPr>
        <p:txBody>
          <a:bodyPr/>
          <a:p/>
        </p:txBody>
      </p:sp>
      <p:sp>
        <p:nvSpPr>
          <p:cNvPr id="10" name="Shape 8"/>
          <p:cNvSpPr/>
          <p:nvPr/>
        </p:nvSpPr>
        <p:spPr>
          <a:xfrm>
            <a:off x="4709160" y="914400"/>
            <a:ext cx="4114800" cy="384048"/>
          </a:xfrm>
          <a:prstGeom prst="rect">
            <a:avLst/>
          </a:prstGeom>
          <a:solidFill>
            <a:srgbClr val="1360A4"/>
          </a:solidFill>
          <a:ln w="12700">
            <a:solidFill>
              <a:srgbClr val="1360A4"/>
            </a:solidFill>
            <a:prstDash val="solid"/>
          </a:ln>
        </p:spPr>
        <p:txBody>
          <a:bodyPr/>
          <a:p/>
        </p:txBody>
      </p:sp>
      <p:sp>
        <p:nvSpPr>
          <p:cNvPr id="11" name="Text 9"/>
          <p:cNvSpPr/>
          <p:nvPr/>
        </p:nvSpPr>
        <p:spPr>
          <a:xfrm>
            <a:off x="4818888" y="914400"/>
            <a:ext cx="3895344" cy="384048"/>
          </a:xfrm>
          <a:prstGeom prst="rect">
            <a:avLst/>
          </a:prstGeom>
          <a:noFill/>
          <a:ln/>
        </p:spPr>
        <p:txBody>
          <a:bodyPr wrap="square" lIns="0" tIns="0" rIns="0" bIns="0" rtlCol="0" anchor="ctr"/>
          <a:lstStyle/>
          <a:p>
            <a:pPr marL="0" indent="0">
              <a:buNone/>
            </a:pPr>
            <a:r>
              <a:rPr lang="en-US" sz="1200" b="1" dirty="0">
                <a:solidFill>
                  <a:srgbClr val="FFFFFF"/>
                </a:solidFill>
              </a:rPr>
              <a:t>Step 2: Cosine Similarity</a:t>
            </a:r>
            <a:endParaRPr lang="en-US" sz="1200" dirty="0"/>
          </a:p>
        </p:txBody>
      </p:sp>
      <p:sp>
        <p:nvSpPr>
          <p:cNvPr id="12" name="Text 10"/>
          <p:cNvSpPr/>
          <p:nvPr/>
        </p:nvSpPr>
        <p:spPr>
          <a:xfrm>
            <a:off x="4818888" y="1371600"/>
            <a:ext cx="3895344" cy="1188720"/>
          </a:xfrm>
          <a:prstGeom prst="rect">
            <a:avLst/>
          </a:prstGeom>
          <a:noFill/>
          <a:ln/>
        </p:spPr>
        <p:txBody>
          <a:bodyPr wrap="square" rtlCol="0" anchor="t"/>
          <a:lstStyle/>
          <a:p>
            <a:pPr marL="0" indent="0">
              <a:buNone/>
            </a:pPr>
            <a:r>
              <a:rPr lang="en-US" sz="1200" dirty="0">
                <a:solidFill>
                  <a:srgbClr val="374151"/>
                </a:solidFill>
              </a:rPr>
              <a:t>cos(θ) = vₜ · d / (‖vₜ‖ · ‖d‖)</a:t>
            </a:r>
            <a:endParaRPr lang="en-US" sz="1200" dirty="0"/>
          </a:p>
          <a:p>
            <a:pPr marL="0" indent="0">
              <a:buNone/>
            </a:pPr>
            <a:r>
              <a:rPr lang="en-US" sz="1200" dirty="0">
                <a:solidFill>
                  <a:srgbClr val="374151"/>
                </a:solidFill>
              </a:rPr>
              <a:t>d = unit lane direction vector</a:t>
            </a:r>
            <a:endParaRPr lang="en-US" sz="1200" dirty="0"/>
          </a:p>
        </p:txBody>
      </p:sp>
      <p:sp>
        <p:nvSpPr>
          <p:cNvPr id="13" name="Shape 11"/>
          <p:cNvSpPr/>
          <p:nvPr/>
        </p:nvSpPr>
        <p:spPr>
          <a:xfrm>
            <a:off x="320040" y="2834640"/>
            <a:ext cx="4114800" cy="1719072"/>
          </a:xfrm>
          <a:prstGeom prst="rect">
            <a:avLst/>
          </a:prstGeom>
          <a:solidFill>
            <a:srgbClr val="F8FAFC"/>
          </a:solidFill>
          <a:ln w="12700">
            <a:solidFill>
              <a:srgbClr val="D1D5DB"/>
            </a:solidFill>
            <a:prstDash val="solid"/>
          </a:ln>
        </p:spPr>
        <p:txBody>
          <a:bodyPr/>
          <a:p/>
        </p:txBody>
      </p:sp>
      <p:sp>
        <p:nvSpPr>
          <p:cNvPr id="14" name="Shape 12"/>
          <p:cNvSpPr/>
          <p:nvPr/>
        </p:nvSpPr>
        <p:spPr>
          <a:xfrm>
            <a:off x="320040" y="2834640"/>
            <a:ext cx="4114800" cy="384048"/>
          </a:xfrm>
          <a:prstGeom prst="rect">
            <a:avLst/>
          </a:prstGeom>
          <a:solidFill>
            <a:srgbClr val="0077B6"/>
          </a:solidFill>
          <a:ln w="12700">
            <a:solidFill>
              <a:srgbClr val="0077B6"/>
            </a:solidFill>
            <a:prstDash val="solid"/>
          </a:ln>
        </p:spPr>
        <p:txBody>
          <a:bodyPr/>
          <a:p/>
        </p:txBody>
      </p:sp>
      <p:sp>
        <p:nvSpPr>
          <p:cNvPr id="15" name="Text 13"/>
          <p:cNvSpPr/>
          <p:nvPr/>
        </p:nvSpPr>
        <p:spPr>
          <a:xfrm>
            <a:off x="429768" y="2834640"/>
            <a:ext cx="3895344" cy="384048"/>
          </a:xfrm>
          <a:prstGeom prst="rect">
            <a:avLst/>
          </a:prstGeom>
          <a:noFill/>
          <a:ln/>
        </p:spPr>
        <p:txBody>
          <a:bodyPr wrap="square" lIns="0" tIns="0" rIns="0" bIns="0" rtlCol="0" anchor="ctr"/>
          <a:lstStyle/>
          <a:p>
            <a:pPr marL="0" indent="0">
              <a:buNone/>
            </a:pPr>
            <a:r>
              <a:rPr lang="en-US" sz="1200" b="1" dirty="0">
                <a:solidFill>
                  <a:srgbClr val="FFFFFF"/>
                </a:solidFill>
              </a:rPr>
              <a:t>Step 3: Classification</a:t>
            </a:r>
            <a:endParaRPr lang="en-US" sz="1200" dirty="0"/>
          </a:p>
        </p:txBody>
      </p:sp>
      <p:sp>
        <p:nvSpPr>
          <p:cNvPr id="16" name="Text 14"/>
          <p:cNvSpPr/>
          <p:nvPr/>
        </p:nvSpPr>
        <p:spPr>
          <a:xfrm>
            <a:off x="429768" y="3291840"/>
            <a:ext cx="3895344" cy="1188720"/>
          </a:xfrm>
          <a:prstGeom prst="rect">
            <a:avLst/>
          </a:prstGeom>
          <a:noFill/>
          <a:ln/>
        </p:spPr>
        <p:txBody>
          <a:bodyPr wrap="square" rtlCol="0" anchor="t"/>
          <a:lstStyle/>
          <a:p>
            <a:pPr marL="0" indent="0">
              <a:buNone/>
            </a:pPr>
            <a:r>
              <a:rPr lang="en-US" sz="1200" dirty="0">
                <a:solidFill>
                  <a:srgbClr val="374151"/>
                </a:solidFill>
              </a:rPr>
              <a:t>cos(θ) &lt; −0.9 → increment violation_streak</a:t>
            </a:r>
            <a:endParaRPr lang="en-US" sz="1200" dirty="0"/>
          </a:p>
          <a:p>
            <a:pPr marL="0" indent="0">
              <a:buNone/>
            </a:pPr>
            <a:r>
              <a:rPr lang="en-US" sz="1200" dirty="0">
                <a:solidFill>
                  <a:srgbClr val="374151"/>
                </a:solidFill>
              </a:rPr>
              <a:t>cos(θ) &gt; +0.3 → reset streak, status = normal</a:t>
            </a:r>
            <a:endParaRPr lang="en-US" sz="1200" dirty="0"/>
          </a:p>
          <a:p>
            <a:pPr marL="0" indent="0">
              <a:buNone/>
            </a:pPr>
            <a:r>
              <a:rPr lang="en-US" sz="1200" dirty="0">
                <a:solidFill>
                  <a:srgbClr val="374151"/>
                </a:solidFill>
              </a:rPr>
              <a:t>−0.9 ≤ cos(θ) ≤ +0.3 → status unchanged (ambiguous)</a:t>
            </a:r>
            <a:endParaRPr lang="en-US" sz="1200" dirty="0"/>
          </a:p>
        </p:txBody>
      </p:sp>
      <p:sp>
        <p:nvSpPr>
          <p:cNvPr id="17" name="Shape 15"/>
          <p:cNvSpPr/>
          <p:nvPr/>
        </p:nvSpPr>
        <p:spPr>
          <a:xfrm>
            <a:off x="4709160" y="2834640"/>
            <a:ext cx="4114800" cy="1719072"/>
          </a:xfrm>
          <a:prstGeom prst="rect">
            <a:avLst/>
          </a:prstGeom>
          <a:solidFill>
            <a:srgbClr val="F8FAFC"/>
          </a:solidFill>
          <a:ln w="12700">
            <a:solidFill>
              <a:srgbClr val="D1D5DB"/>
            </a:solidFill>
            <a:prstDash val="solid"/>
          </a:ln>
        </p:spPr>
        <p:txBody>
          <a:bodyPr/>
          <a:p/>
        </p:txBody>
      </p:sp>
      <p:sp>
        <p:nvSpPr>
          <p:cNvPr id="18" name="Shape 16"/>
          <p:cNvSpPr/>
          <p:nvPr/>
        </p:nvSpPr>
        <p:spPr>
          <a:xfrm>
            <a:off x="4709160" y="2834640"/>
            <a:ext cx="4114800" cy="384048"/>
          </a:xfrm>
          <a:prstGeom prst="rect">
            <a:avLst/>
          </a:prstGeom>
          <a:solidFill>
            <a:srgbClr val="7C3AED"/>
          </a:solidFill>
          <a:ln w="12700">
            <a:solidFill>
              <a:srgbClr val="7C3AED"/>
            </a:solidFill>
            <a:prstDash val="solid"/>
          </a:ln>
        </p:spPr>
        <p:txBody>
          <a:bodyPr/>
          <a:p/>
        </p:txBody>
      </p:sp>
      <p:sp>
        <p:nvSpPr>
          <p:cNvPr id="19" name="Text 17"/>
          <p:cNvSpPr/>
          <p:nvPr/>
        </p:nvSpPr>
        <p:spPr>
          <a:xfrm>
            <a:off x="4818888" y="2834640"/>
            <a:ext cx="3895344" cy="384048"/>
          </a:xfrm>
          <a:prstGeom prst="rect">
            <a:avLst/>
          </a:prstGeom>
          <a:noFill/>
          <a:ln/>
        </p:spPr>
        <p:txBody>
          <a:bodyPr wrap="square" lIns="0" tIns="0" rIns="0" bIns="0" rtlCol="0" anchor="ctr"/>
          <a:lstStyle/>
          <a:p>
            <a:pPr marL="0" indent="0">
              <a:buNone/>
            </a:pPr>
            <a:r>
              <a:rPr lang="en-US" sz="1200" b="1" dirty="0">
                <a:solidFill>
                  <a:srgbClr val="FFFFFF"/>
                </a:solidFill>
              </a:rPr>
              <a:t>Step 4: Streak Confirmation</a:t>
            </a:r>
            <a:endParaRPr lang="en-US" sz="1200" dirty="0"/>
          </a:p>
        </p:txBody>
      </p:sp>
      <p:sp>
        <p:nvSpPr>
          <p:cNvPr id="20" name="Text 18"/>
          <p:cNvSpPr/>
          <p:nvPr/>
        </p:nvSpPr>
        <p:spPr>
          <a:xfrm>
            <a:off x="4818888" y="3291840"/>
            <a:ext cx="3895344" cy="1188720"/>
          </a:xfrm>
          <a:prstGeom prst="rect">
            <a:avLst/>
          </a:prstGeom>
          <a:noFill/>
          <a:ln/>
        </p:spPr>
        <p:txBody>
          <a:bodyPr wrap="square" rtlCol="0" anchor="t"/>
          <a:lstStyle/>
          <a:p>
            <a:pPr marL="0" indent="0">
              <a:buNone/>
            </a:pPr>
            <a:r>
              <a:rPr lang="en-US" sz="1200" dirty="0">
                <a:solidFill>
                  <a:srgbClr val="374151"/>
                </a:solidFill>
              </a:rPr>
              <a:t>Violation confirmed when violation_streak ≥ τₛ = 5</a:t>
            </a:r>
            <a:endParaRPr lang="en-US" sz="1200" dirty="0"/>
          </a:p>
          <a:p>
            <a:pPr marL="0" indent="0">
              <a:buNone/>
            </a:pPr>
            <a:r>
              <a:rPr lang="en-US" sz="1200" dirty="0">
                <a:solidFill>
                  <a:srgbClr val="374151"/>
                </a:solidFill>
              </a:rPr>
              <a:t>5 consecutive counterflow frames required</a:t>
            </a:r>
            <a:endParaRPr lang="en-US" sz="1200" dirty="0"/>
          </a:p>
          <a:p>
            <a:pPr marL="0" indent="0">
              <a:buNone/>
            </a:pPr>
            <a:r>
              <a:rPr lang="en-US" sz="1200" dirty="0">
                <a:solidFill>
                  <a:srgbClr val="374151"/>
                </a:solidFill>
              </a:rPr>
              <a:t>Status is locked as 'violation' for the rest of tracking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Experimental Setup</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07</a:t>
            </a:r>
            <a:endParaRPr lang="en-US" sz="1300" dirty="0"/>
          </a:p>
        </p:txBody>
      </p:sp>
      <p:sp>
        <p:nvSpPr>
          <p:cNvPr id="5" name="Text 3"/>
          <p:cNvSpPr/>
          <p:nvPr/>
        </p:nvSpPr>
        <p:spPr>
          <a:xfrm>
            <a:off x="365760" y="868680"/>
            <a:ext cx="4937760" cy="347472"/>
          </a:xfrm>
          <a:prstGeom prst="rect">
            <a:avLst/>
          </a:prstGeom>
          <a:noFill/>
          <a:ln/>
        </p:spPr>
        <p:txBody>
          <a:bodyPr wrap="square" rtlCol="0" anchor="ctr"/>
          <a:lstStyle/>
          <a:p>
            <a:pPr marL="0" indent="0">
              <a:buNone/>
            </a:pPr>
            <a:r>
              <a:rPr lang="en-US" sz="1400" b="1" dirty="0">
                <a:solidFill>
                  <a:srgbClr val="0B2545"/>
                </a:solidFill>
              </a:rPr>
              <a:t>Dataset — Indonesian Road CCTV (Bogor, Bekasi, Tangerang)</a:t>
            </a:r>
            <a:endParaRPr lang="en-US" sz="1400" dirty="0"/>
          </a:p>
        </p:txBody>
      </p:sp>
      <p:sp>
        <p:nvSpPr>
          <p:cNvPr id="6" name="Shape 4"/>
          <p:cNvSpPr/>
          <p:nvPr/>
        </p:nvSpPr>
        <p:spPr>
          <a:xfrm>
            <a:off x="365760" y="1261872"/>
            <a:ext cx="1920240" cy="457200"/>
          </a:xfrm>
          <a:prstGeom prst="rect">
            <a:avLst/>
          </a:prstGeom>
          <a:solidFill>
            <a:srgbClr val="1E3A5F"/>
          </a:solidFill>
          <a:ln w="12700">
            <a:solidFill>
              <a:srgbClr val="0B2545"/>
            </a:solidFill>
            <a:prstDash val="solid"/>
          </a:ln>
        </p:spPr>
        <p:txBody>
          <a:bodyPr/>
          <a:p/>
        </p:txBody>
      </p:sp>
      <p:sp>
        <p:nvSpPr>
          <p:cNvPr id="7" name="Text 5"/>
          <p:cNvSpPr/>
          <p:nvPr/>
        </p:nvSpPr>
        <p:spPr>
          <a:xfrm>
            <a:off x="365760" y="1261872"/>
            <a:ext cx="1920240" cy="457200"/>
          </a:xfrm>
          <a:prstGeom prst="rect">
            <a:avLst/>
          </a:prstGeom>
          <a:noFill/>
          <a:ln/>
        </p:spPr>
        <p:txBody>
          <a:bodyPr wrap="square" lIns="0" tIns="0" rIns="0" bIns="0" rtlCol="0" anchor="ctr"/>
          <a:lstStyle/>
          <a:p>
            <a:pPr marL="0" indent="0" algn="ctr">
              <a:buNone/>
            </a:pPr>
            <a:r>
              <a:rPr lang="en-US" sz="1000" b="1" dirty="0">
                <a:solidFill>
                  <a:srgbClr val="FFFFFF"/>
                </a:solidFill>
              </a:rPr>
              <a:t>traffic_night_1</a:t>
            </a:r>
            <a:endParaRPr lang="en-US" sz="1000" dirty="0"/>
          </a:p>
        </p:txBody>
      </p:sp>
      <p:sp>
        <p:nvSpPr>
          <p:cNvPr id="8" name="Text 6"/>
          <p:cNvSpPr/>
          <p:nvPr/>
        </p:nvSpPr>
        <p:spPr>
          <a:xfrm>
            <a:off x="2359152" y="1261872"/>
            <a:ext cx="2944368" cy="457200"/>
          </a:xfrm>
          <a:prstGeom prst="rect">
            <a:avLst/>
          </a:prstGeom>
          <a:noFill/>
          <a:ln/>
        </p:spPr>
        <p:txBody>
          <a:bodyPr wrap="square" rtlCol="0" anchor="ctr"/>
          <a:lstStyle/>
          <a:p>
            <a:pPr marL="0" indent="0">
              <a:buNone/>
            </a:pPr>
            <a:r>
              <a:rPr lang="en-US" sz="1100" dirty="0">
                <a:solidFill>
                  <a:srgbClr val="374151"/>
                </a:solidFill>
              </a:rPr>
              <a:t>Daytime CCTV — 640×360, Precision: 12.5%</a:t>
            </a:r>
            <a:endParaRPr lang="en-US" sz="1100" dirty="0"/>
          </a:p>
        </p:txBody>
      </p:sp>
      <p:sp>
        <p:nvSpPr>
          <p:cNvPr id="9" name="Shape 7"/>
          <p:cNvSpPr/>
          <p:nvPr/>
        </p:nvSpPr>
        <p:spPr>
          <a:xfrm>
            <a:off x="365760" y="1792224"/>
            <a:ext cx="1920240" cy="457200"/>
          </a:xfrm>
          <a:prstGeom prst="rect">
            <a:avLst/>
          </a:prstGeom>
          <a:solidFill>
            <a:srgbClr val="1E3A5F"/>
          </a:solidFill>
          <a:ln w="12700">
            <a:solidFill>
              <a:srgbClr val="0B2545"/>
            </a:solidFill>
            <a:prstDash val="solid"/>
          </a:ln>
        </p:spPr>
        <p:txBody>
          <a:bodyPr/>
          <a:p/>
        </p:txBody>
      </p:sp>
      <p:sp>
        <p:nvSpPr>
          <p:cNvPr id="10" name="Text 8"/>
          <p:cNvSpPr/>
          <p:nvPr/>
        </p:nvSpPr>
        <p:spPr>
          <a:xfrm>
            <a:off x="365760" y="1792224"/>
            <a:ext cx="1920240" cy="457200"/>
          </a:xfrm>
          <a:prstGeom prst="rect">
            <a:avLst/>
          </a:prstGeom>
          <a:noFill/>
          <a:ln/>
        </p:spPr>
        <p:txBody>
          <a:bodyPr wrap="square" lIns="0" tIns="0" rIns="0" bIns="0" rtlCol="0" anchor="ctr"/>
          <a:lstStyle/>
          <a:p>
            <a:pPr marL="0" indent="0" algn="ctr">
              <a:buNone/>
            </a:pPr>
            <a:r>
              <a:rPr lang="en-US" sz="1000" b="1" dirty="0">
                <a:solidFill>
                  <a:srgbClr val="FFFFFF"/>
                </a:solidFill>
              </a:rPr>
              <a:t>traffic_day_2</a:t>
            </a:r>
            <a:endParaRPr lang="en-US" sz="1000" dirty="0"/>
          </a:p>
        </p:txBody>
      </p:sp>
      <p:sp>
        <p:nvSpPr>
          <p:cNvPr id="11" name="Text 9"/>
          <p:cNvSpPr/>
          <p:nvPr/>
        </p:nvSpPr>
        <p:spPr>
          <a:xfrm>
            <a:off x="2359152" y="1792224"/>
            <a:ext cx="2944368" cy="457200"/>
          </a:xfrm>
          <a:prstGeom prst="rect">
            <a:avLst/>
          </a:prstGeom>
          <a:noFill/>
          <a:ln/>
        </p:spPr>
        <p:txBody>
          <a:bodyPr wrap="square" rtlCol="0" anchor="ctr"/>
          <a:lstStyle/>
          <a:p>
            <a:pPr marL="0" indent="0">
              <a:buNone/>
            </a:pPr>
            <a:r>
              <a:rPr lang="en-US" sz="1100" dirty="0">
                <a:solidFill>
                  <a:srgbClr val="374151"/>
                </a:solidFill>
              </a:rPr>
              <a:t>Daytime CCTV — 640×360, Precision: 12.5%</a:t>
            </a:r>
            <a:endParaRPr lang="en-US" sz="1100" dirty="0"/>
          </a:p>
        </p:txBody>
      </p:sp>
      <p:sp>
        <p:nvSpPr>
          <p:cNvPr id="12" name="Shape 10"/>
          <p:cNvSpPr/>
          <p:nvPr/>
        </p:nvSpPr>
        <p:spPr>
          <a:xfrm>
            <a:off x="365760" y="2322576"/>
            <a:ext cx="1920240" cy="457200"/>
          </a:xfrm>
          <a:prstGeom prst="rect">
            <a:avLst/>
          </a:prstGeom>
          <a:solidFill>
            <a:srgbClr val="0B2545"/>
          </a:solidFill>
          <a:ln w="12700">
            <a:solidFill>
              <a:srgbClr val="0B2545"/>
            </a:solidFill>
            <a:prstDash val="solid"/>
          </a:ln>
        </p:spPr>
        <p:txBody>
          <a:bodyPr/>
          <a:p/>
        </p:txBody>
      </p:sp>
      <p:sp>
        <p:nvSpPr>
          <p:cNvPr id="13" name="Text 11"/>
          <p:cNvSpPr/>
          <p:nvPr/>
        </p:nvSpPr>
        <p:spPr>
          <a:xfrm>
            <a:off x="365760" y="2322576"/>
            <a:ext cx="1920240" cy="457200"/>
          </a:xfrm>
          <a:prstGeom prst="rect">
            <a:avLst/>
          </a:prstGeom>
          <a:noFill/>
          <a:ln/>
        </p:spPr>
        <p:txBody>
          <a:bodyPr wrap="square" lIns="0" tIns="0" rIns="0" bIns="0" rtlCol="0" anchor="ctr"/>
          <a:lstStyle/>
          <a:p>
            <a:pPr marL="0" indent="0" algn="ctr">
              <a:buNone/>
            </a:pPr>
            <a:r>
              <a:rPr lang="en-US" sz="1000" b="1" dirty="0">
                <a:solidFill>
                  <a:srgbClr val="FFFFFF"/>
                </a:solidFill>
              </a:rPr>
              <a:t>traffic_night_1</a:t>
            </a:r>
            <a:endParaRPr lang="en-US" sz="1000" dirty="0"/>
          </a:p>
        </p:txBody>
      </p:sp>
      <p:sp>
        <p:nvSpPr>
          <p:cNvPr id="14" name="Text 12"/>
          <p:cNvSpPr/>
          <p:nvPr/>
        </p:nvSpPr>
        <p:spPr>
          <a:xfrm>
            <a:off x="2359152" y="2322576"/>
            <a:ext cx="2944368" cy="457200"/>
          </a:xfrm>
          <a:prstGeom prst="rect">
            <a:avLst/>
          </a:prstGeom>
          <a:noFill/>
          <a:ln/>
        </p:spPr>
        <p:txBody>
          <a:bodyPr wrap="square" rtlCol="0" anchor="ctr"/>
          <a:lstStyle/>
          <a:p>
            <a:pPr marL="0" indent="0">
              <a:buNone/>
            </a:pPr>
            <a:r>
              <a:rPr lang="en-US" sz="1100" dirty="0">
                <a:solidFill>
                  <a:srgbClr val="374151"/>
                </a:solidFill>
              </a:rPr>
              <a:t>Nighttime CCTV — 640×360, Precision: 47.62%</a:t>
            </a:r>
            <a:endParaRPr lang="en-US" sz="1100" dirty="0"/>
          </a:p>
        </p:txBody>
      </p:sp>
      <p:sp>
        <p:nvSpPr>
          <p:cNvPr id="15" name="Shape 13"/>
          <p:cNvSpPr/>
          <p:nvPr/>
        </p:nvSpPr>
        <p:spPr>
          <a:xfrm>
            <a:off x="365760" y="2852928"/>
            <a:ext cx="1920240" cy="457200"/>
          </a:xfrm>
          <a:prstGeom prst="rect">
            <a:avLst/>
          </a:prstGeom>
          <a:solidFill>
            <a:srgbClr val="0B2545"/>
          </a:solidFill>
          <a:ln w="12700">
            <a:solidFill>
              <a:srgbClr val="0B2545"/>
            </a:solidFill>
            <a:prstDash val="solid"/>
          </a:ln>
        </p:spPr>
        <p:txBody>
          <a:bodyPr/>
          <a:p/>
        </p:txBody>
      </p:sp>
      <p:sp>
        <p:nvSpPr>
          <p:cNvPr id="16" name="Text 14"/>
          <p:cNvSpPr/>
          <p:nvPr/>
        </p:nvSpPr>
        <p:spPr>
          <a:xfrm>
            <a:off x="365760" y="2852928"/>
            <a:ext cx="1920240" cy="457200"/>
          </a:xfrm>
          <a:prstGeom prst="rect">
            <a:avLst/>
          </a:prstGeom>
          <a:noFill/>
          <a:ln/>
        </p:spPr>
        <p:txBody>
          <a:bodyPr wrap="square" lIns="0" tIns="0" rIns="0" bIns="0" rtlCol="0" anchor="ctr"/>
          <a:lstStyle/>
          <a:p>
            <a:pPr marL="0" indent="0" algn="ctr">
              <a:buNone/>
            </a:pPr>
            <a:r>
              <a:rPr lang="en-US" sz="1000" b="1" dirty="0">
                <a:solidFill>
                  <a:srgbClr val="FFFFFF"/>
                </a:solidFill>
              </a:rPr>
              <a:t>traffic_night_2</a:t>
            </a:r>
            <a:endParaRPr lang="en-US" sz="1000" dirty="0"/>
          </a:p>
        </p:txBody>
      </p:sp>
      <p:sp>
        <p:nvSpPr>
          <p:cNvPr id="17" name="Text 15"/>
          <p:cNvSpPr/>
          <p:nvPr/>
        </p:nvSpPr>
        <p:spPr>
          <a:xfrm>
            <a:off x="2359152" y="2852928"/>
            <a:ext cx="2944368" cy="457200"/>
          </a:xfrm>
          <a:prstGeom prst="rect">
            <a:avLst/>
          </a:prstGeom>
          <a:noFill/>
          <a:ln/>
        </p:spPr>
        <p:txBody>
          <a:bodyPr wrap="square" rtlCol="0" anchor="ctr"/>
          <a:lstStyle/>
          <a:p>
            <a:pPr marL="0" indent="0">
              <a:buNone/>
            </a:pPr>
            <a:r>
              <a:rPr lang="en-US" sz="1100" dirty="0">
                <a:solidFill>
                  <a:srgbClr val="374151"/>
                </a:solidFill>
              </a:rPr>
              <a:t>Nighttime CCTV — 640×360, Precision: 47.62%</a:t>
            </a:r>
            <a:endParaRPr lang="en-US" sz="1100" dirty="0"/>
          </a:p>
        </p:txBody>
      </p:sp>
      <p:sp>
        <p:nvSpPr>
          <p:cNvPr id="18" name="Shape 16"/>
          <p:cNvSpPr/>
          <p:nvPr/>
        </p:nvSpPr>
        <p:spPr>
          <a:xfrm>
            <a:off x="365760" y="3383280"/>
            <a:ext cx="1920240" cy="457200"/>
          </a:xfrm>
          <a:prstGeom prst="rect">
            <a:avLst/>
          </a:prstGeom>
          <a:solidFill>
            <a:srgbClr val="0B2545"/>
          </a:solidFill>
          <a:ln w="12700">
            <a:solidFill>
              <a:srgbClr val="0B2545"/>
            </a:solidFill>
            <a:prstDash val="solid"/>
          </a:ln>
        </p:spPr>
        <p:txBody>
          <a:bodyPr/>
          <a:p/>
        </p:txBody>
      </p:sp>
      <p:sp>
        <p:nvSpPr>
          <p:cNvPr id="19" name="Text 17"/>
          <p:cNvSpPr/>
          <p:nvPr/>
        </p:nvSpPr>
        <p:spPr>
          <a:xfrm>
            <a:off x="365760" y="3383280"/>
            <a:ext cx="1920240" cy="457200"/>
          </a:xfrm>
          <a:prstGeom prst="rect">
            <a:avLst/>
          </a:prstGeom>
          <a:noFill/>
          <a:ln/>
        </p:spPr>
        <p:txBody>
          <a:bodyPr wrap="square" lIns="0" tIns="0" rIns="0" bIns="0" rtlCol="0" anchor="ctr"/>
          <a:lstStyle/>
          <a:p>
            <a:pPr marL="0" indent="0" algn="ctr">
              <a:buNone/>
            </a:pPr>
            <a:r>
              <a:rPr lang="en-US" sz="1000" b="1" dirty="0">
                <a:solidFill>
                  <a:srgbClr val="FFFFFF"/>
                </a:solidFill>
              </a:rPr>
              <a:t>traffic_night_1</a:t>
            </a:r>
            <a:endParaRPr lang="en-US" sz="1000" dirty="0"/>
          </a:p>
        </p:txBody>
      </p:sp>
      <p:sp>
        <p:nvSpPr>
          <p:cNvPr id="20" name="Text 18"/>
          <p:cNvSpPr/>
          <p:nvPr/>
        </p:nvSpPr>
        <p:spPr>
          <a:xfrm>
            <a:off x="2359152" y="3383280"/>
            <a:ext cx="2944368" cy="457200"/>
          </a:xfrm>
          <a:prstGeom prst="rect">
            <a:avLst/>
          </a:prstGeom>
          <a:noFill/>
          <a:ln/>
        </p:spPr>
        <p:txBody>
          <a:bodyPr wrap="square" rtlCol="0" anchor="ctr"/>
          <a:lstStyle/>
          <a:p>
            <a:pPr marL="0" indent="0">
              <a:buNone/>
            </a:pPr>
            <a:r>
              <a:rPr lang="en-US" sz="1100" dirty="0">
                <a:solidFill>
                  <a:srgbClr val="374151"/>
                </a:solidFill>
              </a:rPr>
              <a:t>Nighttime CCTV — 640×360, Precision: 47.62%</a:t>
            </a:r>
            <a:endParaRPr lang="en-US" sz="1100" dirty="0"/>
          </a:p>
        </p:txBody>
      </p:sp>
      <p:sp>
        <p:nvSpPr>
          <p:cNvPr id="21" name="Shape 19"/>
          <p:cNvSpPr/>
          <p:nvPr/>
        </p:nvSpPr>
        <p:spPr>
          <a:xfrm>
            <a:off x="365760" y="3913632"/>
            <a:ext cx="1920240" cy="457200"/>
          </a:xfrm>
          <a:prstGeom prst="rect">
            <a:avLst/>
          </a:prstGeom>
          <a:solidFill>
            <a:srgbClr val="065F46"/>
          </a:solidFill>
          <a:ln w="12700">
            <a:solidFill>
              <a:srgbClr val="0B2545"/>
            </a:solidFill>
            <a:prstDash val="solid"/>
          </a:ln>
        </p:spPr>
        <p:txBody>
          <a:bodyPr/>
          <a:p/>
        </p:txBody>
      </p:sp>
      <p:sp>
        <p:nvSpPr>
          <p:cNvPr id="22" name="Text 20"/>
          <p:cNvSpPr/>
          <p:nvPr/>
        </p:nvSpPr>
        <p:spPr>
          <a:xfrm>
            <a:off x="365760" y="3913632"/>
            <a:ext cx="1920240" cy="457200"/>
          </a:xfrm>
          <a:prstGeom prst="rect">
            <a:avLst/>
          </a:prstGeom>
          <a:noFill/>
          <a:ln/>
        </p:spPr>
        <p:txBody>
          <a:bodyPr wrap="square" lIns="0" tIns="0" rIns="0" bIns="0" rtlCol="0" anchor="ctr"/>
          <a:lstStyle/>
          <a:p>
            <a:pPr marL="0" indent="0" algn="ctr">
              <a:buNone/>
            </a:pPr>
            <a:r>
              <a:rPr lang="en-US" sz="1000" b="1" dirty="0">
                <a:solidFill>
                  <a:srgbClr val="FFFFFF"/>
                </a:solidFill>
              </a:rPr>
              <a:t>traffic_night_2</a:t>
            </a:r>
            <a:endParaRPr lang="en-US" sz="1000" dirty="0"/>
          </a:p>
        </p:txBody>
      </p:sp>
      <p:sp>
        <p:nvSpPr>
          <p:cNvPr id="23" name="Text 21"/>
          <p:cNvSpPr/>
          <p:nvPr/>
        </p:nvSpPr>
        <p:spPr>
          <a:xfrm>
            <a:off x="2359152" y="3913632"/>
            <a:ext cx="2944368" cy="457200"/>
          </a:xfrm>
          <a:prstGeom prst="rect">
            <a:avLst/>
          </a:prstGeom>
          <a:noFill/>
          <a:ln/>
        </p:spPr>
        <p:txBody>
          <a:bodyPr wrap="square" rtlCol="0" anchor="ctr"/>
          <a:lstStyle/>
          <a:p>
            <a:pPr marL="0" indent="0">
              <a:buNone/>
            </a:pPr>
            <a:r>
              <a:rPr lang="en-US" sz="1100" dirty="0">
                <a:solidFill>
                  <a:srgbClr val="374151"/>
                </a:solidFill>
              </a:rPr>
              <a:t>Nighttime CCTV — 640×360, Precision: 55.81%</a:t>
            </a:r>
            <a:endParaRPr lang="en-US" sz="1100" dirty="0"/>
          </a:p>
        </p:txBody>
      </p:sp>
      <p:sp>
        <p:nvSpPr>
          <p:cNvPr id="24" name="Text 22"/>
          <p:cNvSpPr/>
          <p:nvPr/>
        </p:nvSpPr>
        <p:spPr>
          <a:xfrm>
            <a:off x="5577840" y="868680"/>
            <a:ext cx="3291840" cy="347472"/>
          </a:xfrm>
          <a:prstGeom prst="rect">
            <a:avLst/>
          </a:prstGeom>
          <a:noFill/>
          <a:ln/>
        </p:spPr>
        <p:txBody>
          <a:bodyPr wrap="square" rtlCol="0" anchor="ctr"/>
          <a:lstStyle/>
          <a:p>
            <a:pPr marL="0" indent="0">
              <a:buNone/>
            </a:pPr>
            <a:r>
              <a:rPr lang="en-US" sz="1400" b="1" dirty="0">
                <a:solidFill>
                  <a:srgbClr val="0B2545"/>
                </a:solidFill>
              </a:rPr>
              <a:t>System Configuration</a:t>
            </a:r>
            <a:endParaRPr lang="en-US" sz="1400" dirty="0"/>
          </a:p>
        </p:txBody>
      </p:sp>
      <p:sp>
        <p:nvSpPr>
          <p:cNvPr id="25" name="Text 23"/>
          <p:cNvSpPr/>
          <p:nvPr/>
        </p:nvSpPr>
        <p:spPr>
          <a:xfrm>
            <a:off x="5577840" y="1261872"/>
            <a:ext cx="3291840" cy="274320"/>
          </a:xfrm>
          <a:prstGeom prst="rect">
            <a:avLst/>
          </a:prstGeom>
          <a:noFill/>
          <a:ln/>
        </p:spPr>
        <p:txBody>
          <a:bodyPr wrap="square" rtlCol="0" anchor="ctr"/>
          <a:lstStyle/>
          <a:p>
            <a:pPr marL="0" indent="0">
              <a:buNone/>
            </a:pPr>
            <a:r>
              <a:rPr lang="en-US" sz="1100" b="1" dirty="0">
                <a:solidFill>
                  <a:srgbClr val="1360A4"/>
                </a:solidFill>
              </a:rPr>
              <a:t>Libraries (requirements.txt)</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577840" y="1536192"/>
          <a:ext cx="3291840" cy="77724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256032">
                <a:tc>
                  <a:txBody>
                    <a:bodyPr/>
                    <a:lstStyle/>
                    <a:p>
                      <a:pPr marL="0" indent="0">
                        <a:buNone/>
                      </a:pPr>
                      <a:r>
                        <a:rPr lang="en-US" sz="1100" b="1" dirty="0">
                          <a:solidFill>
                            <a:srgbClr val="FFFFFF"/>
                          </a:solidFill>
                        </a:rPr>
                        <a:t>Library</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rPr>
                        <a:t>Version</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56032">
                <a:tc>
                  <a:txBody>
                    <a:bodyPr/>
                    <a:lstStyle/>
                    <a:p>
                      <a:pPr marL="0" indent="0">
                        <a:buNone/>
                      </a:pPr>
                      <a:r>
                        <a:rPr lang="en-US" sz="1100" dirty="0">
                          <a:solidFill>
                            <a:srgbClr val="374151"/>
                          </a:solidFill>
                        </a:rPr>
                        <a:t>opencv-python</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 4.8.0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extLst>
                  <a:ext uri="{0D108BD9-81ED-4DB2-BD59-A6C34878D82A}">
                    <a16:rowId xmlns:a16="http://schemas.microsoft.com/office/drawing/2014/main" val="10001"/>
                  </a:ext>
                </a:extLst>
              </a:tr>
              <a:tr h="256032">
                <a:tc>
                  <a:txBody>
                    <a:bodyPr/>
                    <a:lstStyle/>
                    <a:p>
                      <a:pPr marL="0" indent="0">
                        <a:buNone/>
                      </a:pPr>
                      <a:r>
                        <a:rPr lang="en-US" sz="1100" dirty="0">
                          <a:solidFill>
                            <a:srgbClr val="374151"/>
                          </a:solidFill>
                        </a:rPr>
                        <a:t>numpy</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 1.24.0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bl>
          </a:graphicData>
        </a:graphic>
      </p:graphicFrame>
      <p:sp>
        <p:nvSpPr>
          <p:cNvPr id="27" name="Text 24"/>
          <p:cNvSpPr/>
          <p:nvPr/>
        </p:nvSpPr>
        <p:spPr>
          <a:xfrm>
            <a:off x="5577840" y="2423160"/>
            <a:ext cx="3291840" cy="274320"/>
          </a:xfrm>
          <a:prstGeom prst="rect">
            <a:avLst/>
          </a:prstGeom>
          <a:noFill/>
          <a:ln/>
        </p:spPr>
        <p:txBody>
          <a:bodyPr wrap="square" rtlCol="0" anchor="ctr"/>
          <a:lstStyle/>
          <a:p>
            <a:pPr marL="0" indent="0">
              <a:buNone/>
            </a:pPr>
            <a:r>
              <a:rPr lang="en-US" sz="1100" b="1" dirty="0">
                <a:solidFill>
                  <a:srgbClr val="1360A4"/>
                </a:solidFill>
              </a:rPr>
              <a:t>Key Parameters (uniform across all scenarios)</a:t>
            </a:r>
            <a:endParaRPr lang="en-US" sz="1100" dirty="0"/>
          </a:p>
        </p:txBody>
      </p:sp>
      <p:graphicFrame>
        <p:nvGraphicFramePr>
          <p:cNvPr id="28" name="Table 1"/>
          <p:cNvGraphicFramePr>
            <a:graphicFrameLocks noGrp="1"/>
          </p:cNvGraphicFramePr>
          <p:nvPr>
            <p:extLst>
              <p:ext uri="{D42A27DB-BD31-4B8C-83A1-F6EECF244321}">
                <p14:modId xmlns:p14="http://schemas.microsoft.com/office/powerpoint/2010/main" val="2981851218"/>
              </p:ext>
            </p:extLst>
          </p:nvPr>
        </p:nvGraphicFramePr>
        <p:xfrm>
          <a:off x="5577840" y="2662428"/>
          <a:ext cx="3291840" cy="243840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219456">
                <a:tc>
                  <a:txBody>
                    <a:bodyPr/>
                    <a:lstStyle/>
                    <a:p>
                      <a:pPr marL="0" indent="0">
                        <a:buNone/>
                      </a:pPr>
                      <a:r>
                        <a:rPr lang="en-US" sz="1000" dirty="0">
                          <a:solidFill>
                            <a:srgbClr val="374151"/>
                          </a:solidFill>
                        </a:rPr>
                        <a:t>MOG2 history</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marL="0" indent="0" algn="r">
                        <a:buNone/>
                      </a:pPr>
                      <a:r>
                        <a:rPr lang="en-US" sz="1000" b="1" dirty="0">
                          <a:solidFill>
                            <a:srgbClr val="0B2545"/>
                          </a:solidFill>
                        </a:rPr>
                        <a:t>500 frames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19456">
                <a:tc>
                  <a:txBody>
                    <a:bodyPr/>
                    <a:lstStyle/>
                    <a:p>
                      <a:pPr marL="0" indent="0">
                        <a:buNone/>
                      </a:pPr>
                      <a:r>
                        <a:rPr lang="en-US" sz="1000" dirty="0">
                          <a:solidFill>
                            <a:srgbClr val="374151"/>
                          </a:solidFill>
                        </a:rPr>
                        <a:t>varThreshold</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tc>
                  <a:txBody>
                    <a:bodyPr/>
                    <a:lstStyle/>
                    <a:p>
                      <a:pPr marL="0" indent="0" algn="r">
                        <a:buNone/>
                      </a:pPr>
                      <a:r>
                        <a:rPr lang="en-US" sz="1000" b="1" dirty="0">
                          <a:solidFill>
                            <a:srgbClr val="0B2545"/>
                          </a:solidFill>
                        </a:rPr>
                        <a:t>25.0</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374151"/>
                          </a:solidFill>
                        </a:rPr>
                        <a:t>min_area</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marL="0" indent="0" algn="r">
                        <a:buNone/>
                      </a:pPr>
                      <a:r>
                        <a:rPr lang="en-US" sz="1000" b="1" dirty="0">
                          <a:solidFill>
                            <a:srgbClr val="0B2545"/>
                          </a:solidFill>
                        </a:rPr>
                        <a:t>300 px²</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219456">
                <a:tc>
                  <a:txBody>
                    <a:bodyPr/>
                    <a:lstStyle/>
                    <a:p>
                      <a:pPr marL="0" indent="0">
                        <a:buNone/>
                      </a:pPr>
                      <a:r>
                        <a:rPr lang="en-US" sz="1000" dirty="0">
                          <a:solidFill>
                            <a:srgbClr val="374151"/>
                          </a:solidFill>
                        </a:rPr>
                        <a:t>max_distance</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tc>
                  <a:txBody>
                    <a:bodyPr/>
                    <a:lstStyle/>
                    <a:p>
                      <a:pPr marL="0" indent="0" algn="r">
                        <a:buNone/>
                      </a:pPr>
                      <a:r>
                        <a:rPr lang="en-US" sz="1000" b="1" dirty="0">
                          <a:solidFill>
                            <a:srgbClr val="0B2545"/>
                          </a:solidFill>
                        </a:rPr>
                        <a:t>60 px</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extLst>
                  <a:ext uri="{0D108BD9-81ED-4DB2-BD59-A6C34878D82A}">
                    <a16:rowId xmlns:a16="http://schemas.microsoft.com/office/drawing/2014/main" val="10003"/>
                  </a:ext>
                </a:extLst>
              </a:tr>
              <a:tr h="219456">
                <a:tc>
                  <a:txBody>
                    <a:bodyPr/>
                    <a:lstStyle/>
                    <a:p>
                      <a:pPr marL="0" indent="0">
                        <a:buNone/>
                      </a:pPr>
                      <a:r>
                        <a:rPr lang="en-US" sz="1000" dirty="0">
                          <a:solidFill>
                            <a:srgbClr val="374151"/>
                          </a:solidFill>
                        </a:rPr>
                        <a:t>max_disappeared</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marL="0" indent="0" algn="r">
                        <a:buNone/>
                      </a:pPr>
                      <a:r>
                        <a:rPr lang="en-US" sz="1000" b="1" dirty="0">
                          <a:solidFill>
                            <a:srgbClr val="0B2545"/>
                          </a:solidFill>
                        </a:rPr>
                        <a:t>15 frames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219456">
                <a:tc>
                  <a:txBody>
                    <a:bodyPr/>
                    <a:lstStyle/>
                    <a:p>
                      <a:pPr marL="0" indent="0">
                        <a:buNone/>
                      </a:pPr>
                      <a:r>
                        <a:rPr lang="en-US" sz="1000" dirty="0">
                          <a:solidFill>
                            <a:srgbClr val="374151"/>
                          </a:solidFill>
                        </a:rPr>
                        <a:t>history_len</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tc>
                  <a:txBody>
                    <a:bodyPr/>
                    <a:lstStyle/>
                    <a:p>
                      <a:pPr marL="0" indent="0" algn="r">
                        <a:buNone/>
                      </a:pPr>
                      <a:r>
                        <a:rPr lang="en-US" sz="1000" b="1" dirty="0">
                          <a:solidFill>
                            <a:srgbClr val="0B2545"/>
                          </a:solidFill>
                        </a:rPr>
                        <a:t>12 centroids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extLst>
                  <a:ext uri="{0D108BD9-81ED-4DB2-BD59-A6C34878D82A}">
                    <a16:rowId xmlns:a16="http://schemas.microsoft.com/office/drawing/2014/main" val="10005"/>
                  </a:ext>
                </a:extLst>
              </a:tr>
              <a:tr h="219456">
                <a:tc>
                  <a:txBody>
                    <a:bodyPr/>
                    <a:lstStyle/>
                    <a:p>
                      <a:pPr marL="0" indent="0">
                        <a:buNone/>
                      </a:pPr>
                      <a:r>
                        <a:rPr lang="en-US" sz="1000" dirty="0">
                          <a:solidFill>
                            <a:srgbClr val="374151"/>
                          </a:solidFill>
                        </a:rPr>
                        <a:t>lookback k</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marL="0" indent="0" algn="r">
                        <a:buNone/>
                      </a:pPr>
                      <a:r>
                        <a:rPr lang="en-US" sz="1000" b="1" dirty="0">
                          <a:solidFill>
                            <a:srgbClr val="0B2545"/>
                          </a:solidFill>
                        </a:rPr>
                        <a:t>3 frames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219456">
                <a:tc>
                  <a:txBody>
                    <a:bodyPr/>
                    <a:lstStyle/>
                    <a:p>
                      <a:pPr marL="0" indent="0">
                        <a:buNone/>
                      </a:pPr>
                      <a:r>
                        <a:rPr lang="en-US" sz="1000" dirty="0">
                          <a:solidFill>
                            <a:srgbClr val="374151"/>
                          </a:solidFill>
                        </a:rPr>
                        <a:t>τ_cf</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tc>
                  <a:txBody>
                    <a:bodyPr/>
                    <a:lstStyle/>
                    <a:p>
                      <a:pPr marL="0" indent="0" algn="r">
                        <a:buNone/>
                      </a:pPr>
                      <a:r>
                        <a:rPr lang="en-US" sz="1000" b="1" dirty="0">
                          <a:solidFill>
                            <a:srgbClr val="0B2545"/>
                          </a:solidFill>
                        </a:rPr>
                        <a:t>−0.90</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extLst>
                  <a:ext uri="{0D108BD9-81ED-4DB2-BD59-A6C34878D82A}">
                    <a16:rowId xmlns:a16="http://schemas.microsoft.com/office/drawing/2014/main" val="10007"/>
                  </a:ext>
                </a:extLst>
              </a:tr>
              <a:tr h="219456">
                <a:tc>
                  <a:txBody>
                    <a:bodyPr/>
                    <a:lstStyle/>
                    <a:p>
                      <a:pPr marL="0" indent="0">
                        <a:buNone/>
                      </a:pPr>
                      <a:r>
                        <a:rPr lang="en-US" sz="1000" dirty="0">
                          <a:solidFill>
                            <a:srgbClr val="374151"/>
                          </a:solidFill>
                        </a:rPr>
                        <a:t>τ_n</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marL="0" indent="0" algn="r">
                        <a:buNone/>
                      </a:pPr>
                      <a:r>
                        <a:rPr lang="en-US" sz="1000" b="1" dirty="0">
                          <a:solidFill>
                            <a:srgbClr val="0B2545"/>
                          </a:solidFill>
                        </a:rPr>
                        <a:t>+0.30</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extLst>
                  <a:ext uri="{0D108BD9-81ED-4DB2-BD59-A6C34878D82A}">
                    <a16:rowId xmlns:a16="http://schemas.microsoft.com/office/drawing/2014/main" val="10008"/>
                  </a:ext>
                </a:extLst>
              </a:tr>
              <a:tr h="219456">
                <a:tc>
                  <a:txBody>
                    <a:bodyPr/>
                    <a:lstStyle/>
                    <a:p>
                      <a:pPr marL="0" indent="0">
                        <a:buNone/>
                      </a:pPr>
                      <a:r>
                        <a:rPr lang="en-US" sz="1000" dirty="0">
                          <a:solidFill>
                            <a:srgbClr val="374151"/>
                          </a:solidFill>
                        </a:rPr>
                        <a:t>τ_s (streak)</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tc>
                  <a:txBody>
                    <a:bodyPr/>
                    <a:lstStyle/>
                    <a:p>
                      <a:pPr marL="0" indent="0" algn="r">
                        <a:buNone/>
                      </a:pPr>
                      <a:r>
                        <a:rPr lang="en-US" sz="1000" b="1" dirty="0">
                          <a:solidFill>
                            <a:srgbClr val="0B2545"/>
                          </a:solidFill>
                        </a:rPr>
                        <a:t>5 frames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Results Summary</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08</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868680"/>
          <a:ext cx="8503920" cy="3200400"/>
        </p:xfrm>
        <a:graphic>
          <a:graphicData uri="http://schemas.openxmlformats.org/drawingml/2006/table">
            <a:tbl>
              <a:tblPr/>
              <a:tblGrid>
                <a:gridCol w="17373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2560320">
                  <a:extLst>
                    <a:ext uri="{9D8B030D-6E8A-4147-A177-3AD203B41FA5}">
                      <a16:colId xmlns:a16="http://schemas.microsoft.com/office/drawing/2014/main" val="20005"/>
                    </a:ext>
                  </a:extLst>
                </a:gridCol>
              </a:tblGrid>
              <a:tr h="457200">
                <a:tc>
                  <a:txBody>
                    <a:bodyPr/>
                    <a:lstStyle/>
                    <a:p>
                      <a:pPr marL="0" indent="0">
                        <a:buNone/>
                      </a:pPr>
                      <a:r>
                        <a:rPr lang="en-US" sz="1100" b="1" dirty="0">
                          <a:solidFill>
                            <a:srgbClr val="FFFFFF"/>
                          </a:solidFill>
                        </a:rPr>
                        <a:t>Scenario</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rPr>
                        <a:t>Records</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rPr>
                        <a:t>Unique IDs</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rPr>
                        <a:t>Frame Range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rPr>
                        <a:t>Time (s)</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rPr>
                        <a:t>Key Note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374151"/>
                          </a:solidFill>
                        </a:rPr>
                        <a:t>traffic_day_1</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8</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8</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25-687</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2.50-68.70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Precision: 12.5%</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00" dirty="0">
                          <a:solidFill>
                            <a:srgbClr val="374151"/>
                          </a:solidFill>
                        </a:rPr>
                        <a:t>traffic_day_2</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147</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147</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21-3830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0.70-127.67</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Highest count</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rgbClr val="374151"/>
                          </a:solidFill>
                        </a:rPr>
                        <a:t>traffic_night_1</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21</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21</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85-1689</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8.50-168.90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Precision: 47.62%</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dirty="0">
                          <a:solidFill>
                            <a:srgbClr val="374151"/>
                          </a:solidFill>
                        </a:rPr>
                        <a:t>traffic_night_2</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43</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43</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212-1330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21.20-133.00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Best precision</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457200">
                <a:tc>
                  <a:txBody>
                    <a:bodyPr/>
                    <a:lstStyle/>
                    <a:p>
                      <a:pPr marL="0" indent="0">
                        <a:buNone/>
                      </a:pPr>
                      <a:r>
                        <a:rPr lang="en-US" sz="1100" b="1" dirty="0">
                          <a:solidFill>
                            <a:srgbClr val="374151"/>
                          </a:solidFill>
                        </a:rPr>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9C4"/>
                    </a:solidFill>
                  </a:tcPr>
                </a:tc>
                <a:tc>
                  <a:txBody>
                    <a:bodyPr/>
                    <a:lstStyle/>
                    <a:p>
                      <a:pPr marL="0" indent="0">
                        <a:buNone/>
                      </a:pPr>
                      <a:r>
                        <a:rPr lang="en-US" sz="1100" dirty="0">
                          <a:solidFill>
                            <a:srgbClr val="92400E"/>
                          </a:solidFill>
                        </a:rPr>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9C4"/>
                    </a:solidFill>
                  </a:tcPr>
                </a:tc>
                <a:tc>
                  <a:txBody>
                    <a:bodyPr/>
                    <a:lstStyle/>
                    <a:p>
                      <a:pPr marL="0" indent="0">
                        <a:buNone/>
                      </a:pPr>
                      <a:r>
                        <a:rPr lang="en-US" sz="1100" dirty="0">
                          <a:solidFill>
                            <a:srgbClr val="92400E"/>
                          </a:solidFill>
                        </a:rPr>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9C4"/>
                    </a:solidFill>
                  </a:tcPr>
                </a:tc>
                <a:tc>
                  <a:txBody>
                    <a:bodyPr/>
                    <a:lstStyle/>
                    <a:p>
                      <a:pPr marL="0" indent="0">
                        <a:buNone/>
                      </a:pPr>
                      <a:r>
                        <a:rPr lang="en-US" sz="1100" dirty="0">
                          <a:solidFill>
                            <a:srgbClr val="92400E"/>
                          </a:solidFill>
                        </a:rPr>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9C4"/>
                    </a:solidFill>
                  </a:tcPr>
                </a:tc>
                <a:tc>
                  <a:txBody>
                    <a:bodyPr/>
                    <a:lstStyle/>
                    <a:p>
                      <a:pPr marL="0" indent="0">
                        <a:buNone/>
                      </a:pPr>
                      <a:r>
                        <a:rPr lang="en-US" sz="1100" dirty="0">
                          <a:solidFill>
                            <a:srgbClr val="92400E"/>
                          </a:solidFill>
                        </a:rPr>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9C4"/>
                    </a:solidFill>
                  </a:tcPr>
                </a:tc>
                <a:tc>
                  <a:txBody>
                    <a:bodyPr/>
                    <a:lstStyle/>
                    <a:p>
                      <a:pPr marL="0" indent="0">
                        <a:buNone/>
                      </a:pPr>
                      <a:r>
                        <a:rPr lang="en-US" sz="1100" dirty="0">
                          <a:solidFill>
                            <a:srgbClr val="92400E"/>
                          </a:solidFill>
                        </a:rPr>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9C4"/>
                    </a:solidFill>
                  </a:tcPr>
                </a:tc>
                <a:extLst>
                  <a:ext uri="{0D108BD9-81ED-4DB2-BD59-A6C34878D82A}">
                    <a16:rowId xmlns:a16="http://schemas.microsoft.com/office/drawing/2014/main" val="10005"/>
                  </a:ext>
                </a:extLst>
              </a:tr>
              <a:tr h="457200">
                <a:tc>
                  <a:txBody>
                    <a:bodyPr/>
                    <a:lstStyle/>
                    <a:p>
                      <a:pPr marL="0" indent="0">
                        <a:buNone/>
                      </a:pPr>
                      <a:r>
                        <a:rPr lang="en-US" sz="1100" dirty="0">
                          <a:solidFill>
                            <a:srgbClr val="374151"/>
                          </a:solidFill>
                        </a:rPr>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bl>
          </a:graphicData>
        </a:graphic>
      </p:graphicFrame>
      <p:sp>
        <p:nvSpPr>
          <p:cNvPr id="6" name="Shape 3"/>
          <p:cNvSpPr/>
          <p:nvPr/>
        </p:nvSpPr>
        <p:spPr>
          <a:xfrm>
            <a:off x="320040" y="4251960"/>
            <a:ext cx="8503920" cy="640080"/>
          </a:xfrm>
          <a:prstGeom prst="rect">
            <a:avLst/>
          </a:prstGeom>
          <a:solidFill>
            <a:srgbClr val="EEF2FF"/>
          </a:solidFill>
          <a:ln w="12700">
            <a:solidFill>
              <a:srgbClr val="1360A4"/>
            </a:solidFill>
            <a:prstDash val="solid"/>
          </a:ln>
        </p:spPr>
        <p:txBody>
          <a:bodyPr/>
          <a:p/>
        </p:txBody>
      </p:sp>
      <p:sp>
        <p:nvSpPr>
          <p:cNvPr id="7" name="Text 4"/>
          <p:cNvSpPr/>
          <p:nvPr/>
        </p:nvSpPr>
        <p:spPr>
          <a:xfrm>
            <a:off x="502920" y="4251960"/>
            <a:ext cx="8321040" cy="640080"/>
          </a:xfrm>
          <a:prstGeom prst="rect">
            <a:avLst/>
          </a:prstGeom>
          <a:noFill/>
          <a:ln/>
        </p:spPr>
        <p:txBody>
          <a:bodyPr wrap="square" rtlCol="0" anchor="ctr"/>
          <a:lstStyle/>
          <a:p>
            <a:pPr marL="0" indent="0">
              <a:buNone/>
            </a:pPr>
            <a:r>
              <a:rPr lang="en-US" sz="1150" dirty="0">
                <a:solidFill>
                  <a:srgbClr val="0B2545"/>
                </a:solidFill>
              </a:rPr>
              <a:t>★  traffic_day_2 yielded the highest detection count — 147 unique violations — spanning frames 21 to 3,830 (0.70 s to 127.67 s). traffic_night_2 achieved the highest precision at 55.81% (TP = 24, FP = 19). Precision ranged from 12.5% (traffic_day_1) to 55.81% (traffic_night_2) across the four scenarios.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Discussion &amp; Key Findings</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09</a:t>
            </a:r>
            <a:endParaRPr lang="en-US" sz="1300" dirty="0"/>
          </a:p>
        </p:txBody>
      </p:sp>
      <p:sp>
        <p:nvSpPr>
          <p:cNvPr id="5" name="Shape 3"/>
          <p:cNvSpPr/>
          <p:nvPr/>
        </p:nvSpPr>
        <p:spPr>
          <a:xfrm>
            <a:off x="320040" y="914400"/>
            <a:ext cx="4114800" cy="1810512"/>
          </a:xfrm>
          <a:prstGeom prst="rect">
            <a:avLst/>
          </a:prstGeom>
          <a:solidFill>
            <a:srgbClr val="FFFFFF"/>
          </a:solidFill>
          <a:ln w="12700">
            <a:solidFill>
              <a:srgbClr val="D1D5DB"/>
            </a:solidFill>
            <a:prstDash val="solid"/>
          </a:ln>
          <a:effectLst>
            <a:outerShdw blurRad="76200" dist="25400" dir="8100000" algn="bl" rotWithShape="0">
              <a:srgbClr val="000000">
                <a:alpha val="8000"/>
              </a:srgbClr>
            </a:outerShdw>
          </a:effectLst>
        </p:spPr>
        <p:txBody>
          <a:bodyPr/>
          <a:p/>
        </p:txBody>
      </p:sp>
      <p:sp>
        <p:nvSpPr>
          <p:cNvPr id="6" name="Shape 4"/>
          <p:cNvSpPr/>
          <p:nvPr/>
        </p:nvSpPr>
        <p:spPr>
          <a:xfrm>
            <a:off x="320040" y="914400"/>
            <a:ext cx="64008" cy="1810512"/>
          </a:xfrm>
          <a:prstGeom prst="rect">
            <a:avLst/>
          </a:prstGeom>
          <a:solidFill>
            <a:srgbClr val="0B2545"/>
          </a:solidFill>
          <a:ln w="12700">
            <a:solidFill>
              <a:srgbClr val="0B2545"/>
            </a:solidFill>
            <a:prstDash val="solid"/>
          </a:ln>
        </p:spPr>
        <p:txBody>
          <a:bodyPr/>
          <a:p/>
        </p:txBody>
      </p:sp>
      <p:sp>
        <p:nvSpPr>
          <p:cNvPr id="7" name="Text 5"/>
          <p:cNvSpPr/>
          <p:nvPr/>
        </p:nvSpPr>
        <p:spPr>
          <a:xfrm>
            <a:off x="484632" y="1024128"/>
            <a:ext cx="3840480" cy="347472"/>
          </a:xfrm>
          <a:prstGeom prst="rect">
            <a:avLst/>
          </a:prstGeom>
          <a:noFill/>
          <a:ln/>
        </p:spPr>
        <p:txBody>
          <a:bodyPr wrap="square" rtlCol="0" anchor="ctr"/>
          <a:lstStyle/>
          <a:p>
            <a:pPr marL="0" indent="0">
              <a:buNone/>
            </a:pPr>
            <a:r>
              <a:rPr lang="en-US" sz="1250" b="1" dirty="0">
                <a:solidFill>
                  <a:srgbClr val="0B2545"/>
                </a:solidFill>
              </a:rPr>
              <a:t>Daytime vs. Nighttime</a:t>
            </a:r>
            <a:endParaRPr lang="en-US" sz="1250" dirty="0"/>
          </a:p>
        </p:txBody>
      </p:sp>
      <p:sp>
        <p:nvSpPr>
          <p:cNvPr id="8" name="Text 6"/>
          <p:cNvSpPr/>
          <p:nvPr/>
        </p:nvSpPr>
        <p:spPr>
          <a:xfrm>
            <a:off x="484632" y="1389888"/>
            <a:ext cx="3840480" cy="1261872"/>
          </a:xfrm>
          <a:prstGeom prst="rect">
            <a:avLst/>
          </a:prstGeom>
          <a:noFill/>
          <a:ln/>
        </p:spPr>
        <p:txBody>
          <a:bodyPr wrap="square" rtlCol="0" anchor="t"/>
          <a:lstStyle/>
          <a:p>
            <a:pPr marL="0" indent="0">
              <a:buNone/>
            </a:pPr>
            <a:r>
              <a:rPr lang="en-US" sz="1150" dirty="0">
                <a:solidFill>
                  <a:srgbClr val="374151"/>
                </a:solidFill>
              </a:rPr>
              <a:t>Nighttime scenarios (traffic_night_1: 47.62%, traffic_night_2: 55.81%) achieved higher precision than daytime scenarios (traffic_day_1: 12.5%, traffic_day_2: 22.45%). MOG2 benefits from high headlight contrast in nighttime CCTV footage, though this also risks false positives from headlight reflections on wet surfaces.</a:t>
            </a:r>
            <a:endParaRPr lang="en-US" sz="1150" dirty="0"/>
          </a:p>
        </p:txBody>
      </p:sp>
      <p:sp>
        <p:nvSpPr>
          <p:cNvPr id="9" name="Shape 7"/>
          <p:cNvSpPr/>
          <p:nvPr/>
        </p:nvSpPr>
        <p:spPr>
          <a:xfrm>
            <a:off x="4709160" y="914400"/>
            <a:ext cx="4114800" cy="1810512"/>
          </a:xfrm>
          <a:prstGeom prst="rect">
            <a:avLst/>
          </a:prstGeom>
          <a:solidFill>
            <a:srgbClr val="FFFFFF"/>
          </a:solidFill>
          <a:ln w="12700">
            <a:solidFill>
              <a:srgbClr val="D1D5DB"/>
            </a:solidFill>
            <a:prstDash val="solid"/>
          </a:ln>
          <a:effectLst>
            <a:outerShdw blurRad="76200" dist="25400" dir="8100000" algn="bl" rotWithShape="0">
              <a:srgbClr val="000000">
                <a:alpha val="8000"/>
              </a:srgbClr>
            </a:outerShdw>
          </a:effectLst>
        </p:spPr>
        <p:txBody>
          <a:bodyPr/>
          <a:p/>
        </p:txBody>
      </p:sp>
      <p:sp>
        <p:nvSpPr>
          <p:cNvPr id="10" name="Shape 8"/>
          <p:cNvSpPr/>
          <p:nvPr/>
        </p:nvSpPr>
        <p:spPr>
          <a:xfrm>
            <a:off x="4709160" y="914400"/>
            <a:ext cx="64008" cy="1810512"/>
          </a:xfrm>
          <a:prstGeom prst="rect">
            <a:avLst/>
          </a:prstGeom>
          <a:solidFill>
            <a:srgbClr val="1360A4"/>
          </a:solidFill>
          <a:ln w="12700">
            <a:solidFill>
              <a:srgbClr val="1360A4"/>
            </a:solidFill>
            <a:prstDash val="solid"/>
          </a:ln>
        </p:spPr>
        <p:txBody>
          <a:bodyPr/>
          <a:p/>
        </p:txBody>
      </p:sp>
      <p:sp>
        <p:nvSpPr>
          <p:cNvPr id="11" name="Text 9"/>
          <p:cNvSpPr/>
          <p:nvPr/>
        </p:nvSpPr>
        <p:spPr>
          <a:xfrm>
            <a:off x="4873752" y="1024128"/>
            <a:ext cx="3840480" cy="347472"/>
          </a:xfrm>
          <a:prstGeom prst="rect">
            <a:avLst/>
          </a:prstGeom>
          <a:noFill/>
          <a:ln/>
        </p:spPr>
        <p:txBody>
          <a:bodyPr wrap="square" rtlCol="0" anchor="ctr"/>
          <a:lstStyle/>
          <a:p>
            <a:pPr marL="0" indent="0">
              <a:buNone/>
            </a:pPr>
            <a:r>
              <a:rPr lang="en-US" sz="1250" b="1" dirty="0">
                <a:solidFill>
                  <a:srgbClr val="1360A4"/>
                </a:solidFill>
              </a:rPr>
              <a:t>Accident vs. Non-Accident</a:t>
            </a:r>
            <a:endParaRPr lang="en-US" sz="1250" dirty="0"/>
          </a:p>
        </p:txBody>
      </p:sp>
      <p:sp>
        <p:nvSpPr>
          <p:cNvPr id="12" name="Text 10"/>
          <p:cNvSpPr/>
          <p:nvPr/>
        </p:nvSpPr>
        <p:spPr>
          <a:xfrm>
            <a:off x="4873752" y="1389888"/>
            <a:ext cx="3840480" cy="1261872"/>
          </a:xfrm>
          <a:prstGeom prst="rect">
            <a:avLst/>
          </a:prstGeom>
          <a:noFill/>
          <a:ln/>
        </p:spPr>
        <p:txBody>
          <a:bodyPr wrap="square" rtlCol="0" anchor="t"/>
          <a:lstStyle/>
          <a:p>
            <a:pPr marL="0" indent="0">
              <a:buNone/>
            </a:pPr>
            <a:r>
              <a:rPr lang="en-US" sz="1150" dirty="0">
                <a:solidFill>
                  <a:srgbClr val="374151"/>
                </a:solidFill>
              </a:rPr>
              <a:t>traffic_day_2 produced the highest detection volume (147 violations, Precision 22.45%), while traffic_day_1 had only 8 violations but the lowest precision (12.5%). High detection volume correlates with higher false positive rates in dense daytime CCTV conditions due to tracker occlusion and background noise.</a:t>
            </a:r>
            <a:endParaRPr lang="en-US" sz="1150" dirty="0"/>
          </a:p>
        </p:txBody>
      </p:sp>
      <p:sp>
        <p:nvSpPr>
          <p:cNvPr id="13" name="Shape 11"/>
          <p:cNvSpPr/>
          <p:nvPr/>
        </p:nvSpPr>
        <p:spPr>
          <a:xfrm>
            <a:off x="320040" y="2926080"/>
            <a:ext cx="4114800" cy="1810512"/>
          </a:xfrm>
          <a:prstGeom prst="rect">
            <a:avLst/>
          </a:prstGeom>
          <a:solidFill>
            <a:srgbClr val="FFFFFF"/>
          </a:solidFill>
          <a:ln w="12700">
            <a:solidFill>
              <a:srgbClr val="D1D5DB"/>
            </a:solidFill>
            <a:prstDash val="solid"/>
          </a:ln>
          <a:effectLst>
            <a:outerShdw blurRad="76200" dist="25400" dir="8100000" algn="bl" rotWithShape="0">
              <a:srgbClr val="000000">
                <a:alpha val="8000"/>
              </a:srgbClr>
            </a:outerShdw>
          </a:effectLst>
        </p:spPr>
        <p:txBody>
          <a:bodyPr/>
          <a:p/>
        </p:txBody>
      </p:sp>
      <p:sp>
        <p:nvSpPr>
          <p:cNvPr id="14" name="Shape 12"/>
          <p:cNvSpPr/>
          <p:nvPr/>
        </p:nvSpPr>
        <p:spPr>
          <a:xfrm>
            <a:off x="320040" y="2926080"/>
            <a:ext cx="64008" cy="1810512"/>
          </a:xfrm>
          <a:prstGeom prst="rect">
            <a:avLst/>
          </a:prstGeom>
          <a:solidFill>
            <a:srgbClr val="0077B6"/>
          </a:solidFill>
          <a:ln w="12700">
            <a:solidFill>
              <a:srgbClr val="0077B6"/>
            </a:solidFill>
            <a:prstDash val="solid"/>
          </a:ln>
        </p:spPr>
        <p:txBody>
          <a:bodyPr/>
          <a:p/>
        </p:txBody>
      </p:sp>
      <p:sp>
        <p:nvSpPr>
          <p:cNvPr id="15" name="Text 13"/>
          <p:cNvSpPr/>
          <p:nvPr/>
        </p:nvSpPr>
        <p:spPr>
          <a:xfrm>
            <a:off x="484632" y="3035808"/>
            <a:ext cx="3840480" cy="347472"/>
          </a:xfrm>
          <a:prstGeom prst="rect">
            <a:avLst/>
          </a:prstGeom>
          <a:noFill/>
          <a:ln/>
        </p:spPr>
        <p:txBody>
          <a:bodyPr wrap="square" rtlCol="0" anchor="ctr"/>
          <a:lstStyle/>
          <a:p>
            <a:pPr marL="0" indent="0">
              <a:buNone/>
            </a:pPr>
            <a:r>
              <a:rPr lang="en-US" sz="1250" b="1" dirty="0">
                <a:solidFill>
                  <a:srgbClr val="0077B6"/>
                </a:solidFill>
              </a:rPr>
              <a:t>Dense Intersection vs. Regulated Traffic</a:t>
            </a:r>
            <a:endParaRPr lang="en-US" sz="1250" dirty="0"/>
          </a:p>
        </p:txBody>
      </p:sp>
      <p:sp>
        <p:nvSpPr>
          <p:cNvPr id="16" name="Text 14"/>
          <p:cNvSpPr/>
          <p:nvPr/>
        </p:nvSpPr>
        <p:spPr>
          <a:xfrm>
            <a:off x="484632" y="3401568"/>
            <a:ext cx="3840480" cy="1261872"/>
          </a:xfrm>
          <a:prstGeom prst="rect">
            <a:avLst/>
          </a:prstGeom>
          <a:noFill/>
          <a:ln/>
        </p:spPr>
        <p:txBody>
          <a:bodyPr wrap="square" rtlCol="0" anchor="t"/>
          <a:lstStyle/>
          <a:p>
            <a:pPr marL="0" indent="0">
              <a:buNone/>
            </a:pPr>
            <a:r>
              <a:rPr lang="en-US" sz="1150" dirty="0">
                <a:solidFill>
                  <a:srgbClr val="374151"/>
                </a:solidFill>
              </a:rPr>
              <a:t>The resolution difference between traffic_day_2 (1280×720) and other scenarios (640×360) likely contributed to its higher absolute TP count (33 vs. 1–24 for other scenarios), as more vehicles are resolvable in higher-resolution footage.</a:t>
            </a:r>
            <a:endParaRPr lang="en-US" sz="1150" dirty="0"/>
          </a:p>
        </p:txBody>
      </p:sp>
      <p:sp>
        <p:nvSpPr>
          <p:cNvPr id="17" name="Shape 15"/>
          <p:cNvSpPr/>
          <p:nvPr/>
        </p:nvSpPr>
        <p:spPr>
          <a:xfrm>
            <a:off x="4709160" y="2926080"/>
            <a:ext cx="4114800" cy="1810512"/>
          </a:xfrm>
          <a:prstGeom prst="rect">
            <a:avLst/>
          </a:prstGeom>
          <a:solidFill>
            <a:srgbClr val="FFFFFF"/>
          </a:solidFill>
          <a:ln w="12700">
            <a:solidFill>
              <a:srgbClr val="D1D5DB"/>
            </a:solidFill>
            <a:prstDash val="solid"/>
          </a:ln>
          <a:effectLst>
            <a:outerShdw blurRad="76200" dist="25400" dir="8100000" algn="bl" rotWithShape="0">
              <a:srgbClr val="000000">
                <a:alpha val="8000"/>
              </a:srgbClr>
            </a:outerShdw>
          </a:effectLst>
        </p:spPr>
        <p:txBody>
          <a:bodyPr/>
          <a:p/>
        </p:txBody>
      </p:sp>
      <p:sp>
        <p:nvSpPr>
          <p:cNvPr id="18" name="Shape 16"/>
          <p:cNvSpPr/>
          <p:nvPr/>
        </p:nvSpPr>
        <p:spPr>
          <a:xfrm>
            <a:off x="4709160" y="2926080"/>
            <a:ext cx="64008" cy="1810512"/>
          </a:xfrm>
          <a:prstGeom prst="rect">
            <a:avLst/>
          </a:prstGeom>
          <a:solidFill>
            <a:srgbClr val="7C3AED"/>
          </a:solidFill>
          <a:ln w="12700">
            <a:solidFill>
              <a:srgbClr val="7C3AED"/>
            </a:solidFill>
            <a:prstDash val="solid"/>
          </a:ln>
        </p:spPr>
        <p:txBody>
          <a:bodyPr/>
          <a:p/>
        </p:txBody>
      </p:sp>
      <p:sp>
        <p:nvSpPr>
          <p:cNvPr id="19" name="Text 17"/>
          <p:cNvSpPr/>
          <p:nvPr/>
        </p:nvSpPr>
        <p:spPr>
          <a:xfrm>
            <a:off x="4873752" y="3035808"/>
            <a:ext cx="3840480" cy="347472"/>
          </a:xfrm>
          <a:prstGeom prst="rect">
            <a:avLst/>
          </a:prstGeom>
          <a:noFill/>
          <a:ln/>
        </p:spPr>
        <p:txBody>
          <a:bodyPr wrap="square" rtlCol="0" anchor="ctr"/>
          <a:lstStyle/>
          <a:p>
            <a:pPr marL="0" indent="0">
              <a:buNone/>
            </a:pPr>
            <a:r>
              <a:rPr lang="en-US" sz="1250" b="1" dirty="0">
                <a:solidFill>
                  <a:srgbClr val="7C3AED"/>
                </a:solidFill>
              </a:rPr>
              <a:t>Tracking Artifacts &amp; ID Non-Continuity</a:t>
            </a:r>
            <a:endParaRPr lang="en-US" sz="1250" dirty="0"/>
          </a:p>
        </p:txBody>
      </p:sp>
      <p:sp>
        <p:nvSpPr>
          <p:cNvPr id="20" name="Text 18"/>
          <p:cNvSpPr/>
          <p:nvPr/>
        </p:nvSpPr>
        <p:spPr>
          <a:xfrm>
            <a:off x="4873752" y="3401568"/>
            <a:ext cx="3840480" cy="1261872"/>
          </a:xfrm>
          <a:prstGeom prst="rect">
            <a:avLst/>
          </a:prstGeom>
          <a:noFill/>
          <a:ln/>
        </p:spPr>
        <p:txBody>
          <a:bodyPr wrap="square" rtlCol="0" anchor="t"/>
          <a:lstStyle/>
          <a:p>
            <a:pPr marL="0" indent="0">
              <a:buNone/>
            </a:pPr>
            <a:r>
              <a:rPr lang="en-US" sz="1150" dirty="0">
                <a:solidFill>
                  <a:srgbClr val="374151"/>
                </a:solidFill>
              </a:rPr>
              <a:t>Non-sequential violated object IDs across all four scenarios reflect the streak confirmation mechanism correctly rejecting objects that do not sustain counterflow motion. However, the greedy tracker’s identity switches during occlusion inflate FP counts, especially in traffic_day_2 (FP = 114) and traffic_day_1 (FP = 7).</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Limitations &amp; Future Work</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10</a:t>
            </a:r>
            <a:endParaRPr lang="en-US" sz="1300" dirty="0"/>
          </a:p>
        </p:txBody>
      </p:sp>
      <p:sp>
        <p:nvSpPr>
          <p:cNvPr id="5" name="Text 3"/>
          <p:cNvSpPr/>
          <p:nvPr/>
        </p:nvSpPr>
        <p:spPr>
          <a:xfrm>
            <a:off x="365760" y="868680"/>
            <a:ext cx="3931920" cy="347472"/>
          </a:xfrm>
          <a:prstGeom prst="rect">
            <a:avLst/>
          </a:prstGeom>
          <a:noFill/>
          <a:ln/>
        </p:spPr>
        <p:txBody>
          <a:bodyPr wrap="square" rtlCol="0" anchor="ctr"/>
          <a:lstStyle/>
          <a:p>
            <a:pPr marL="0" indent="0">
              <a:buNone/>
            </a:pPr>
            <a:r>
              <a:rPr lang="en-US" sz="1400" b="1" dirty="0">
                <a:solidFill>
                  <a:srgbClr val="DC2626"/>
                </a:solidFill>
              </a:rPr>
              <a:t>Current Limitations</a:t>
            </a:r>
            <a:endParaRPr lang="en-US" sz="1400" dirty="0"/>
          </a:p>
        </p:txBody>
      </p:sp>
      <p:sp>
        <p:nvSpPr>
          <p:cNvPr id="6" name="Text 4"/>
          <p:cNvSpPr/>
          <p:nvPr/>
        </p:nvSpPr>
        <p:spPr>
          <a:xfrm>
            <a:off x="365760" y="1261872"/>
            <a:ext cx="3931920" cy="3566160"/>
          </a:xfrm>
          <a:prstGeom prst="rect">
            <a:avLst/>
          </a:prstGeom>
          <a:noFill/>
          <a:ln/>
        </p:spPr>
        <p:txBody>
          <a:bodyPr wrap="square" rtlCol="0" anchor="t"/>
          <a:lstStyle/>
          <a:p>
            <a:pPr marL="342900" indent="-342900">
              <a:spcAft>
                <a:spcPts val="600"/>
              </a:spcAft>
              <a:buSzPct val="100000"/>
              <a:buChar char="•"/>
            </a:pPr>
            <a:r>
              <a:rPr lang="en-US" sz="1200" dirty="0">
                <a:solidFill>
                  <a:srgbClr val="374151"/>
                </a:solidFill>
              </a:rPr>
              <a:t>High false positive rate — precision 12.5%–55.81% across scenarios; greedy tracker identity switches inflate FP count</a:t>
            </a:r>
            <a:endParaRPr lang="en-US" sz="1200" dirty="0"/>
          </a:p>
          <a:p>
            <a:pPr marL="342900" indent="-342900">
              <a:spcAft>
                <a:spcPts val="600"/>
              </a:spcAft>
              <a:buSzPct val="100000"/>
              <a:buChar char="•"/>
            </a:pPr>
            <a:r>
              <a:rPr lang="en-US" sz="1200" dirty="0">
                <a:solidFill>
                  <a:srgbClr val="374151"/>
                </a:solidFill>
              </a:rPr>
              <a:t>Only counterflow detected; no red-light, speeding, or wrong-lane violations. CCTV camera angle/perspective distortion in Indonesian footage may affect motion vector accuracy.</a:t>
            </a:r>
            <a:endParaRPr lang="en-US" sz="1200" dirty="0"/>
          </a:p>
          <a:p>
            <a:pPr marL="342900" indent="-342900">
              <a:spcAft>
                <a:spcPts val="600"/>
              </a:spcAft>
              <a:buSzPct val="100000"/>
              <a:buChar char="•"/>
            </a:pPr>
            <a:r>
              <a:rPr lang="en-US" sz="1200" dirty="0">
                <a:solidFill>
                  <a:srgbClr val="374151"/>
                </a:solidFill>
              </a:rPr>
              <a:t>Manual ROI &amp; direction vector setup required for each new video (labor-intensive at scale)</a:t>
            </a:r>
            <a:endParaRPr lang="en-US" sz="1200" dirty="0"/>
          </a:p>
          <a:p>
            <a:pPr marL="342900" indent="-342900">
              <a:spcAft>
                <a:spcPts val="600"/>
              </a:spcAft>
              <a:buSzPct val="100000"/>
              <a:buChar char="•"/>
            </a:pPr>
            <a:r>
              <a:rPr lang="en-US" sz="1200" dirty="0">
                <a:solidFill>
                  <a:srgbClr val="374151"/>
                </a:solidFill>
              </a:rPr>
              <a:t>Uniform parameters across all scenarios — nighttime-tuned parameters (lower varThreshold, adjusted min_area) could reduce FP rate for night scenarios</a:t>
            </a:r>
            <a:endParaRPr lang="en-US" sz="1200" dirty="0"/>
          </a:p>
          <a:p>
            <a:pPr marL="342900" indent="-342900">
              <a:spcAft>
                <a:spcPts val="600"/>
              </a:spcAft>
              <a:buSzPct val="100000"/>
              <a:buChar char="•"/>
            </a:pPr>
            <a:r>
              <a:rPr lang="en-US" sz="1200" dirty="0">
                <a:solidFill>
                  <a:srgbClr val="374151"/>
                </a:solidFill>
              </a:rPr>
              <a:t>Greedy tracker vulnerable to identity switches in occlusion-heavy dense scenes</a:t>
            </a:r>
            <a:endParaRPr lang="en-US" sz="1200" dirty="0"/>
          </a:p>
        </p:txBody>
      </p:sp>
      <p:sp>
        <p:nvSpPr>
          <p:cNvPr id="7" name="Text 5"/>
          <p:cNvSpPr/>
          <p:nvPr/>
        </p:nvSpPr>
        <p:spPr>
          <a:xfrm>
            <a:off x="4846320" y="868680"/>
            <a:ext cx="4023360" cy="347472"/>
          </a:xfrm>
          <a:prstGeom prst="rect">
            <a:avLst/>
          </a:prstGeom>
          <a:noFill/>
          <a:ln/>
        </p:spPr>
        <p:txBody>
          <a:bodyPr wrap="square" rtlCol="0" anchor="ctr"/>
          <a:lstStyle/>
          <a:p>
            <a:pPr marL="0" indent="0">
              <a:buNone/>
            </a:pPr>
            <a:r>
              <a:rPr lang="en-US" sz="1400" b="1" dirty="0">
                <a:solidFill>
                  <a:srgbClr val="059669"/>
                </a:solidFill>
              </a:rPr>
              <a:t>Future Work</a:t>
            </a:r>
            <a:endParaRPr lang="en-US" sz="1400" dirty="0"/>
          </a:p>
        </p:txBody>
      </p:sp>
      <p:sp>
        <p:nvSpPr>
          <p:cNvPr id="8" name="Shape 6"/>
          <p:cNvSpPr/>
          <p:nvPr/>
        </p:nvSpPr>
        <p:spPr>
          <a:xfrm>
            <a:off x="4846320" y="1261872"/>
            <a:ext cx="274320" cy="402336"/>
          </a:xfrm>
          <a:prstGeom prst="rect">
            <a:avLst/>
          </a:prstGeom>
          <a:solidFill>
            <a:srgbClr val="059669"/>
          </a:solidFill>
          <a:ln w="12700">
            <a:solidFill>
              <a:srgbClr val="059669"/>
            </a:solidFill>
            <a:prstDash val="solid"/>
          </a:ln>
        </p:spPr>
        <p:txBody>
          <a:bodyPr/>
          <a:p/>
        </p:txBody>
      </p:sp>
      <p:sp>
        <p:nvSpPr>
          <p:cNvPr id="9" name="Text 7"/>
          <p:cNvSpPr/>
          <p:nvPr/>
        </p:nvSpPr>
        <p:spPr>
          <a:xfrm>
            <a:off x="4846320" y="126187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0" name="Text 8"/>
          <p:cNvSpPr/>
          <p:nvPr/>
        </p:nvSpPr>
        <p:spPr>
          <a:xfrm>
            <a:off x="5184648" y="1261872"/>
            <a:ext cx="3657600" cy="256032"/>
          </a:xfrm>
          <a:prstGeom prst="rect">
            <a:avLst/>
          </a:prstGeom>
          <a:noFill/>
          <a:ln/>
        </p:spPr>
        <p:txBody>
          <a:bodyPr wrap="square" rtlCol="0" anchor="ctr"/>
          <a:lstStyle/>
          <a:p>
            <a:pPr marL="0" indent="0">
              <a:buNone/>
            </a:pPr>
            <a:r>
              <a:rPr lang="en-US" sz="1200" b="1" dirty="0">
                <a:solidFill>
                  <a:srgbClr val="0B2545"/>
                </a:solidFill>
              </a:rPr>
              <a:t>Ground Truth Annotation  —  </a:t>
            </a:r>
            <a:endParaRPr lang="en-US" sz="1200" dirty="0"/>
          </a:p>
        </p:txBody>
      </p:sp>
      <p:sp>
        <p:nvSpPr>
          <p:cNvPr id="11" name="Text 9"/>
          <p:cNvSpPr/>
          <p:nvPr/>
        </p:nvSpPr>
        <p:spPr>
          <a:xfrm>
            <a:off x="5184648" y="1499616"/>
            <a:ext cx="3657600" cy="256032"/>
          </a:xfrm>
          <a:prstGeom prst="rect">
            <a:avLst/>
          </a:prstGeom>
          <a:noFill/>
          <a:ln/>
        </p:spPr>
        <p:txBody>
          <a:bodyPr wrap="square" rtlCol="0" anchor="ctr"/>
          <a:lstStyle/>
          <a:p>
            <a:pPr marL="0" indent="0">
              <a:buNone/>
            </a:pPr>
            <a:r>
              <a:rPr lang="en-US" sz="1100" dirty="0">
                <a:solidFill>
                  <a:srgbClr val="6B7280"/>
                </a:solidFill>
              </a:rPr>
              <a:t>Enable precision, recall, F1-score, MOTA, IDF1</a:t>
            </a:r>
            <a:endParaRPr lang="en-US" sz="1100" dirty="0"/>
          </a:p>
        </p:txBody>
      </p:sp>
      <p:sp>
        <p:nvSpPr>
          <p:cNvPr id="12" name="Shape 10"/>
          <p:cNvSpPr/>
          <p:nvPr/>
        </p:nvSpPr>
        <p:spPr>
          <a:xfrm>
            <a:off x="4846320" y="1764792"/>
            <a:ext cx="274320" cy="402336"/>
          </a:xfrm>
          <a:prstGeom prst="rect">
            <a:avLst/>
          </a:prstGeom>
          <a:solidFill>
            <a:srgbClr val="059669"/>
          </a:solidFill>
          <a:ln w="12700">
            <a:solidFill>
              <a:srgbClr val="059669"/>
            </a:solidFill>
            <a:prstDash val="solid"/>
          </a:ln>
        </p:spPr>
        <p:txBody>
          <a:bodyPr/>
          <a:p/>
        </p:txBody>
      </p:sp>
      <p:sp>
        <p:nvSpPr>
          <p:cNvPr id="13" name="Text 11"/>
          <p:cNvSpPr/>
          <p:nvPr/>
        </p:nvSpPr>
        <p:spPr>
          <a:xfrm>
            <a:off x="4846320" y="176479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4" name="Text 12"/>
          <p:cNvSpPr/>
          <p:nvPr/>
        </p:nvSpPr>
        <p:spPr>
          <a:xfrm>
            <a:off x="5184648" y="1764792"/>
            <a:ext cx="3657600" cy="256032"/>
          </a:xfrm>
          <a:prstGeom prst="rect">
            <a:avLst/>
          </a:prstGeom>
          <a:noFill/>
          <a:ln/>
        </p:spPr>
        <p:txBody>
          <a:bodyPr wrap="square" rtlCol="0" anchor="ctr"/>
          <a:lstStyle/>
          <a:p>
            <a:pPr marL="0" indent="0">
              <a:buNone/>
            </a:pPr>
            <a:r>
              <a:rPr lang="en-US" sz="1200" b="1" dirty="0">
                <a:solidFill>
                  <a:srgbClr val="0B2545"/>
                </a:solidFill>
              </a:rPr>
              <a:t>YOLO Integration  —  </a:t>
            </a:r>
            <a:endParaRPr lang="en-US" sz="1200" dirty="0"/>
          </a:p>
        </p:txBody>
      </p:sp>
      <p:sp>
        <p:nvSpPr>
          <p:cNvPr id="15" name="Text 13"/>
          <p:cNvSpPr/>
          <p:nvPr/>
        </p:nvSpPr>
        <p:spPr>
          <a:xfrm>
            <a:off x="5184648" y="2002536"/>
            <a:ext cx="3657600" cy="256032"/>
          </a:xfrm>
          <a:prstGeom prst="rect">
            <a:avLst/>
          </a:prstGeom>
          <a:noFill/>
          <a:ln/>
        </p:spPr>
        <p:txBody>
          <a:bodyPr wrap="square" rtlCol="0" anchor="ctr"/>
          <a:lstStyle/>
          <a:p>
            <a:pPr marL="0" indent="0">
              <a:buNone/>
            </a:pPr>
            <a:r>
              <a:rPr lang="en-US" sz="1100" dirty="0">
                <a:solidFill>
                  <a:srgbClr val="6B7280"/>
                </a:solidFill>
              </a:rPr>
              <a:t>Replace MOG2 for better illumination/occlusion robustness</a:t>
            </a:r>
            <a:endParaRPr lang="en-US" sz="1100" dirty="0"/>
          </a:p>
        </p:txBody>
      </p:sp>
      <p:sp>
        <p:nvSpPr>
          <p:cNvPr id="16" name="Shape 14"/>
          <p:cNvSpPr/>
          <p:nvPr/>
        </p:nvSpPr>
        <p:spPr>
          <a:xfrm>
            <a:off x="4846320" y="2267712"/>
            <a:ext cx="274320" cy="402336"/>
          </a:xfrm>
          <a:prstGeom prst="rect">
            <a:avLst/>
          </a:prstGeom>
          <a:solidFill>
            <a:srgbClr val="059669"/>
          </a:solidFill>
          <a:ln w="12700">
            <a:solidFill>
              <a:srgbClr val="059669"/>
            </a:solidFill>
            <a:prstDash val="solid"/>
          </a:ln>
        </p:spPr>
        <p:txBody>
          <a:bodyPr/>
          <a:p/>
        </p:txBody>
      </p:sp>
      <p:sp>
        <p:nvSpPr>
          <p:cNvPr id="17" name="Text 15"/>
          <p:cNvSpPr/>
          <p:nvPr/>
        </p:nvSpPr>
        <p:spPr>
          <a:xfrm>
            <a:off x="4846320" y="226771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8" name="Text 16"/>
          <p:cNvSpPr/>
          <p:nvPr/>
        </p:nvSpPr>
        <p:spPr>
          <a:xfrm>
            <a:off x="5184648" y="2267712"/>
            <a:ext cx="3657600" cy="256032"/>
          </a:xfrm>
          <a:prstGeom prst="rect">
            <a:avLst/>
          </a:prstGeom>
          <a:noFill/>
          <a:ln/>
        </p:spPr>
        <p:txBody>
          <a:bodyPr wrap="square" rtlCol="0" anchor="ctr"/>
          <a:lstStyle/>
          <a:p>
            <a:pPr marL="0" indent="0">
              <a:buNone/>
            </a:pPr>
            <a:r>
              <a:rPr lang="en-US" sz="1200" b="1" dirty="0">
                <a:solidFill>
                  <a:srgbClr val="0B2545"/>
                </a:solidFill>
              </a:rPr>
              <a:t>Advanced Trackers  —  </a:t>
            </a:r>
            <a:endParaRPr lang="en-US" sz="1200" dirty="0"/>
          </a:p>
        </p:txBody>
      </p:sp>
      <p:sp>
        <p:nvSpPr>
          <p:cNvPr id="19" name="Text 17"/>
          <p:cNvSpPr/>
          <p:nvPr/>
        </p:nvSpPr>
        <p:spPr>
          <a:xfrm>
            <a:off x="5184648" y="2505456"/>
            <a:ext cx="3657600" cy="256032"/>
          </a:xfrm>
          <a:prstGeom prst="rect">
            <a:avLst/>
          </a:prstGeom>
          <a:noFill/>
          <a:ln/>
        </p:spPr>
        <p:txBody>
          <a:bodyPr wrap="square" rtlCol="0" anchor="ctr"/>
          <a:lstStyle/>
          <a:p>
            <a:pPr marL="0" indent="0">
              <a:buNone/>
            </a:pPr>
            <a:r>
              <a:rPr lang="en-US" sz="1100" dirty="0">
                <a:solidFill>
                  <a:srgbClr val="6B7280"/>
                </a:solidFill>
              </a:rPr>
              <a:t>SORT / DeepSORT / ByteTrack to reduce identity switches</a:t>
            </a:r>
            <a:endParaRPr lang="en-US" sz="1100" dirty="0"/>
          </a:p>
        </p:txBody>
      </p:sp>
      <p:sp>
        <p:nvSpPr>
          <p:cNvPr id="20" name="Shape 18"/>
          <p:cNvSpPr/>
          <p:nvPr/>
        </p:nvSpPr>
        <p:spPr>
          <a:xfrm>
            <a:off x="4846320" y="2770632"/>
            <a:ext cx="274320" cy="402336"/>
          </a:xfrm>
          <a:prstGeom prst="rect">
            <a:avLst/>
          </a:prstGeom>
          <a:solidFill>
            <a:srgbClr val="059669"/>
          </a:solidFill>
          <a:ln w="12700">
            <a:solidFill>
              <a:srgbClr val="059669"/>
            </a:solidFill>
            <a:prstDash val="solid"/>
          </a:ln>
        </p:spPr>
        <p:txBody>
          <a:bodyPr/>
          <a:p/>
        </p:txBody>
      </p:sp>
      <p:sp>
        <p:nvSpPr>
          <p:cNvPr id="21" name="Text 19"/>
          <p:cNvSpPr/>
          <p:nvPr/>
        </p:nvSpPr>
        <p:spPr>
          <a:xfrm>
            <a:off x="4846320" y="277063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22" name="Text 20"/>
          <p:cNvSpPr/>
          <p:nvPr/>
        </p:nvSpPr>
        <p:spPr>
          <a:xfrm>
            <a:off x="5184648" y="2770632"/>
            <a:ext cx="3657600" cy="256032"/>
          </a:xfrm>
          <a:prstGeom prst="rect">
            <a:avLst/>
          </a:prstGeom>
          <a:noFill/>
          <a:ln/>
        </p:spPr>
        <p:txBody>
          <a:bodyPr wrap="square" rtlCol="0" anchor="ctr"/>
          <a:lstStyle/>
          <a:p>
            <a:pPr marL="0" indent="0">
              <a:buNone/>
            </a:pPr>
            <a:r>
              <a:rPr lang="en-US" sz="1200" b="1" dirty="0">
                <a:solidFill>
                  <a:srgbClr val="0B2545"/>
                </a:solidFill>
              </a:rPr>
              <a:t>Adaptive Parameter Tuning  —  </a:t>
            </a:r>
            <a:endParaRPr lang="en-US" sz="1200" dirty="0"/>
          </a:p>
        </p:txBody>
      </p:sp>
      <p:sp>
        <p:nvSpPr>
          <p:cNvPr id="23" name="Text 21"/>
          <p:cNvSpPr/>
          <p:nvPr/>
        </p:nvSpPr>
        <p:spPr>
          <a:xfrm>
            <a:off x="5184648" y="3008376"/>
            <a:ext cx="3657600" cy="256032"/>
          </a:xfrm>
          <a:prstGeom prst="rect">
            <a:avLst/>
          </a:prstGeom>
          <a:noFill/>
          <a:ln/>
        </p:spPr>
        <p:txBody>
          <a:bodyPr wrap="square" rtlCol="0" anchor="ctr"/>
          <a:lstStyle/>
          <a:p>
            <a:pPr marL="0" indent="0">
              <a:buNone/>
            </a:pPr>
            <a:r>
              <a:rPr lang="en-US" sz="1100" dirty="0">
                <a:solidFill>
                  <a:srgbClr val="6B7280"/>
                </a:solidFill>
              </a:rPr>
              <a:t>Per-scenario tuning (e.g., lower varThreshold for nighttime)</a:t>
            </a:r>
            <a:endParaRPr lang="en-US" sz="1100" dirty="0"/>
          </a:p>
        </p:txBody>
      </p:sp>
      <p:sp>
        <p:nvSpPr>
          <p:cNvPr id="24" name="Shape 22"/>
          <p:cNvSpPr/>
          <p:nvPr/>
        </p:nvSpPr>
        <p:spPr>
          <a:xfrm>
            <a:off x="4846320" y="3273552"/>
            <a:ext cx="274320" cy="402336"/>
          </a:xfrm>
          <a:prstGeom prst="rect">
            <a:avLst/>
          </a:prstGeom>
          <a:solidFill>
            <a:srgbClr val="059669"/>
          </a:solidFill>
          <a:ln w="12700">
            <a:solidFill>
              <a:srgbClr val="059669"/>
            </a:solidFill>
            <a:prstDash val="solid"/>
          </a:ln>
        </p:spPr>
        <p:txBody>
          <a:bodyPr/>
          <a:p/>
        </p:txBody>
      </p:sp>
      <p:sp>
        <p:nvSpPr>
          <p:cNvPr id="25" name="Text 23"/>
          <p:cNvSpPr/>
          <p:nvPr/>
        </p:nvSpPr>
        <p:spPr>
          <a:xfrm>
            <a:off x="4846320" y="327355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26" name="Text 24"/>
          <p:cNvSpPr/>
          <p:nvPr/>
        </p:nvSpPr>
        <p:spPr>
          <a:xfrm>
            <a:off x="5184648" y="3273552"/>
            <a:ext cx="3657600" cy="256032"/>
          </a:xfrm>
          <a:prstGeom prst="rect">
            <a:avLst/>
          </a:prstGeom>
          <a:noFill/>
          <a:ln/>
        </p:spPr>
        <p:txBody>
          <a:bodyPr wrap="square" rtlCol="0" anchor="ctr"/>
          <a:lstStyle/>
          <a:p>
            <a:pPr marL="0" indent="0">
              <a:buNone/>
            </a:pPr>
            <a:r>
              <a:rPr lang="en-US" sz="1200" b="1" dirty="0">
                <a:solidFill>
                  <a:srgbClr val="0B2545"/>
                </a:solidFill>
              </a:rPr>
              <a:t>Multi-Lane Expansion  —  </a:t>
            </a:r>
            <a:endParaRPr lang="en-US" sz="1200" dirty="0"/>
          </a:p>
        </p:txBody>
      </p:sp>
      <p:sp>
        <p:nvSpPr>
          <p:cNvPr id="27" name="Text 25"/>
          <p:cNvSpPr/>
          <p:nvPr/>
        </p:nvSpPr>
        <p:spPr>
          <a:xfrm>
            <a:off x="5184648" y="3511296"/>
            <a:ext cx="3657600" cy="256032"/>
          </a:xfrm>
          <a:prstGeom prst="rect">
            <a:avLst/>
          </a:prstGeom>
          <a:noFill/>
          <a:ln/>
        </p:spPr>
        <p:txBody>
          <a:bodyPr wrap="square" rtlCol="0" anchor="ctr"/>
          <a:lstStyle/>
          <a:p>
            <a:pPr marL="0" indent="0">
              <a:buNone/>
            </a:pPr>
            <a:r>
              <a:rPr lang="en-US" sz="1100" dirty="0">
                <a:solidFill>
                  <a:srgbClr val="6B7280"/>
                </a:solidFill>
              </a:rPr>
              <a:t>Simultaneous multi-polygon configuration</a:t>
            </a:r>
            <a:endParaRPr lang="en-US" sz="1100" dirty="0"/>
          </a:p>
        </p:txBody>
      </p:sp>
      <p:sp>
        <p:nvSpPr>
          <p:cNvPr id="28" name="Shape 26"/>
          <p:cNvSpPr/>
          <p:nvPr/>
        </p:nvSpPr>
        <p:spPr>
          <a:xfrm>
            <a:off x="4846320" y="3776472"/>
            <a:ext cx="274320" cy="402336"/>
          </a:xfrm>
          <a:prstGeom prst="rect">
            <a:avLst/>
          </a:prstGeom>
          <a:solidFill>
            <a:srgbClr val="059669"/>
          </a:solidFill>
          <a:ln w="12700">
            <a:solidFill>
              <a:srgbClr val="059669"/>
            </a:solidFill>
            <a:prstDash val="solid"/>
          </a:ln>
        </p:spPr>
        <p:txBody>
          <a:bodyPr/>
          <a:p/>
        </p:txBody>
      </p:sp>
      <p:sp>
        <p:nvSpPr>
          <p:cNvPr id="29" name="Text 27"/>
          <p:cNvSpPr/>
          <p:nvPr/>
        </p:nvSpPr>
        <p:spPr>
          <a:xfrm>
            <a:off x="4846320" y="377647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30" name="Text 28"/>
          <p:cNvSpPr/>
          <p:nvPr/>
        </p:nvSpPr>
        <p:spPr>
          <a:xfrm>
            <a:off x="5184648" y="3776472"/>
            <a:ext cx="3657600" cy="256032"/>
          </a:xfrm>
          <a:prstGeom prst="rect">
            <a:avLst/>
          </a:prstGeom>
          <a:noFill/>
          <a:ln/>
        </p:spPr>
        <p:txBody>
          <a:bodyPr wrap="square" rtlCol="0" anchor="ctr"/>
          <a:lstStyle/>
          <a:p>
            <a:pPr marL="0" indent="0">
              <a:buNone/>
            </a:pPr>
            <a:r>
              <a:rPr lang="en-US" sz="1200" b="1" dirty="0">
                <a:solidFill>
                  <a:srgbClr val="0B2545"/>
                </a:solidFill>
              </a:rPr>
              <a:t>Real-Time Dashboard  —  </a:t>
            </a:r>
            <a:endParaRPr lang="en-US" sz="1200" dirty="0"/>
          </a:p>
        </p:txBody>
      </p:sp>
      <p:sp>
        <p:nvSpPr>
          <p:cNvPr id="31" name="Text 29"/>
          <p:cNvSpPr/>
          <p:nvPr/>
        </p:nvSpPr>
        <p:spPr>
          <a:xfrm>
            <a:off x="5184648" y="4014216"/>
            <a:ext cx="3657600" cy="256032"/>
          </a:xfrm>
          <a:prstGeom prst="rect">
            <a:avLst/>
          </a:prstGeom>
          <a:noFill/>
          <a:ln/>
        </p:spPr>
        <p:txBody>
          <a:bodyPr wrap="square" rtlCol="0" anchor="ctr"/>
          <a:lstStyle/>
          <a:p>
            <a:pPr marL="0" indent="0">
              <a:buNone/>
            </a:pPr>
            <a:r>
              <a:rPr lang="en-US" sz="1100" dirty="0">
                <a:solidFill>
                  <a:srgbClr val="6B7280"/>
                </a:solidFill>
              </a:rPr>
              <a:t>Live violation alerts &amp; history logging for traffic management</a:t>
            </a:r>
            <a:endParaRPr lang="en-US" sz="1100" dirty="0"/>
          </a:p>
        </p:txBody>
      </p:sp>
      <p:sp>
        <p:nvSpPr>
          <p:cNvPr id="32" name="Shape 30"/>
          <p:cNvSpPr/>
          <p:nvPr/>
        </p:nvSpPr>
        <p:spPr>
          <a:xfrm>
            <a:off x="4846320" y="4279392"/>
            <a:ext cx="274320" cy="402336"/>
          </a:xfrm>
          <a:prstGeom prst="rect">
            <a:avLst/>
          </a:prstGeom>
          <a:solidFill>
            <a:srgbClr val="059669"/>
          </a:solidFill>
          <a:ln w="12700">
            <a:solidFill>
              <a:srgbClr val="059669"/>
            </a:solidFill>
            <a:prstDash val="solid"/>
          </a:ln>
        </p:spPr>
        <p:txBody>
          <a:bodyPr/>
          <a:p/>
        </p:txBody>
      </p:sp>
      <p:sp>
        <p:nvSpPr>
          <p:cNvPr id="33" name="Text 31"/>
          <p:cNvSpPr/>
          <p:nvPr/>
        </p:nvSpPr>
        <p:spPr>
          <a:xfrm>
            <a:off x="4846320" y="427939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34" name="Text 32"/>
          <p:cNvSpPr/>
          <p:nvPr/>
        </p:nvSpPr>
        <p:spPr>
          <a:xfrm>
            <a:off x="5184648" y="4279392"/>
            <a:ext cx="3657600" cy="256032"/>
          </a:xfrm>
          <a:prstGeom prst="rect">
            <a:avLst/>
          </a:prstGeom>
          <a:noFill/>
          <a:ln/>
        </p:spPr>
        <p:txBody>
          <a:bodyPr wrap="square" rtlCol="0" anchor="ctr"/>
          <a:lstStyle/>
          <a:p>
            <a:pPr marL="0" indent="0">
              <a:buNone/>
            </a:pPr>
            <a:r>
              <a:rPr lang="en-US" sz="1200" b="1" dirty="0">
                <a:solidFill>
                  <a:srgbClr val="0B2545"/>
                </a:solidFill>
              </a:rPr>
              <a:t>More Violation Types  —  </a:t>
            </a:r>
            <a:endParaRPr lang="en-US" sz="1200" dirty="0"/>
          </a:p>
        </p:txBody>
      </p:sp>
      <p:sp>
        <p:nvSpPr>
          <p:cNvPr id="35" name="Text 33"/>
          <p:cNvSpPr/>
          <p:nvPr/>
        </p:nvSpPr>
        <p:spPr>
          <a:xfrm>
            <a:off x="5184648" y="4517136"/>
            <a:ext cx="3657600" cy="256032"/>
          </a:xfrm>
          <a:prstGeom prst="rect">
            <a:avLst/>
          </a:prstGeom>
          <a:noFill/>
          <a:ln/>
        </p:spPr>
        <p:txBody>
          <a:bodyPr wrap="square" rtlCol="0" anchor="ctr"/>
          <a:lstStyle/>
          <a:p>
            <a:pPr marL="0" indent="0">
              <a:buNone/>
            </a:pPr>
            <a:r>
              <a:rPr lang="en-US" sz="1100" dirty="0">
                <a:solidFill>
                  <a:srgbClr val="6B7280"/>
                </a:solidFill>
              </a:rPr>
              <a:t>Red-light running, wrong-lane entry, illegal stopping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txBody>
          <a:bodyPr/>
          <a:p/>
        </p:txBody>
      </p:sp>
      <p:sp>
        <p:nvSpPr>
          <p:cNvPr id="3" name="Shape 1"/>
          <p:cNvSpPr/>
          <p:nvPr/>
        </p:nvSpPr>
        <p:spPr>
          <a:xfrm>
            <a:off x="0" y="5070348"/>
            <a:ext cx="9144000" cy="73152"/>
          </a:xfrm>
          <a:prstGeom prst="rect">
            <a:avLst/>
          </a:prstGeom>
          <a:solidFill>
            <a:srgbClr val="00B4D8"/>
          </a:solidFill>
          <a:ln w="12700">
            <a:solidFill>
              <a:srgbClr val="00B4D8"/>
            </a:solidFill>
            <a:prstDash val="solid"/>
          </a:ln>
        </p:spPr>
        <p:txBody>
          <a:bodyPr/>
          <a:p/>
        </p:txBody>
      </p:sp>
      <p:sp>
        <p:nvSpPr>
          <p:cNvPr id="4" name="Text 2"/>
          <p:cNvSpPr/>
          <p:nvPr/>
        </p:nvSpPr>
        <p:spPr>
          <a:xfrm>
            <a:off x="457200" y="182880"/>
            <a:ext cx="8229600" cy="594360"/>
          </a:xfrm>
          <a:prstGeom prst="rect">
            <a:avLst/>
          </a:prstGeom>
          <a:noFill/>
          <a:ln/>
        </p:spPr>
        <p:txBody>
          <a:bodyPr wrap="square" rtlCol="0" anchor="ctr"/>
          <a:lstStyle/>
          <a:p>
            <a:pPr marL="0" indent="0" algn="ctr">
              <a:buNone/>
            </a:pPr>
            <a:r>
              <a:rPr lang="en-US" sz="2800" b="1" dirty="0">
                <a:solidFill>
                  <a:srgbClr val="FFFFFF"/>
                </a:solidFill>
              </a:rPr>
              <a:t>Conclusion</a:t>
            </a:r>
            <a:endParaRPr lang="en-US" sz="2800" dirty="0"/>
          </a:p>
        </p:txBody>
      </p:sp>
      <p:sp>
        <p:nvSpPr>
          <p:cNvPr id="5" name="Shape 3"/>
          <p:cNvSpPr/>
          <p:nvPr/>
        </p:nvSpPr>
        <p:spPr>
          <a:xfrm>
            <a:off x="320040" y="914400"/>
            <a:ext cx="4114800" cy="1828800"/>
          </a:xfrm>
          <a:prstGeom prst="rect">
            <a:avLst/>
          </a:prstGeom>
          <a:solidFill>
            <a:srgbClr val="132F52"/>
          </a:solidFill>
          <a:ln w="6350">
            <a:solidFill>
              <a:srgbClr val="1A78C2"/>
            </a:solidFill>
            <a:prstDash val="solid"/>
          </a:ln>
        </p:spPr>
        <p:txBody>
          <a:bodyPr/>
          <a:p/>
        </p:txBody>
      </p:sp>
      <p:pic>
        <p:nvPicPr>
          <p:cNvPr id="6" name="Image 0" descr="preencoded.png"/>
          <p:cNvPicPr>
            <a:picLocks noChangeAspect="1"/>
          </p:cNvPicPr>
          <p:nvPr/>
        </p:nvPicPr>
        <p:blipFill>
          <a:blip r:embed="rId3"/>
          <a:stretch>
            <a:fillRect/>
          </a:stretch>
        </p:blipFill>
        <p:spPr>
          <a:xfrm>
            <a:off x="484632" y="1024128"/>
            <a:ext cx="329184" cy="329184"/>
          </a:xfrm>
          <a:prstGeom prst="rect">
            <a:avLst/>
          </a:prstGeom>
        </p:spPr>
      </p:pic>
      <p:sp>
        <p:nvSpPr>
          <p:cNvPr id="7" name="Text 4"/>
          <p:cNvSpPr/>
          <p:nvPr/>
        </p:nvSpPr>
        <p:spPr>
          <a:xfrm>
            <a:off x="905256" y="1024128"/>
            <a:ext cx="3383280" cy="329184"/>
          </a:xfrm>
          <a:prstGeom prst="rect">
            <a:avLst/>
          </a:prstGeom>
          <a:noFill/>
          <a:ln/>
        </p:spPr>
        <p:txBody>
          <a:bodyPr wrap="square" rtlCol="0" anchor="ctr"/>
          <a:lstStyle/>
          <a:p>
            <a:pPr marL="0" indent="0">
              <a:buNone/>
            </a:pPr>
            <a:r>
              <a:rPr lang="en-US" sz="1250" b="1" dirty="0">
                <a:solidFill>
                  <a:srgbClr val="00B4D8"/>
                </a:solidFill>
              </a:rPr>
              <a:t>Viability Demonstrated</a:t>
            </a:r>
            <a:endParaRPr lang="en-US" sz="1250" dirty="0"/>
          </a:p>
        </p:txBody>
      </p:sp>
      <p:sp>
        <p:nvSpPr>
          <p:cNvPr id="8" name="Text 5"/>
          <p:cNvSpPr/>
          <p:nvPr/>
        </p:nvSpPr>
        <p:spPr>
          <a:xfrm>
            <a:off x="484632" y="1463040"/>
            <a:ext cx="3785616" cy="1170432"/>
          </a:xfrm>
          <a:prstGeom prst="rect">
            <a:avLst/>
          </a:prstGeom>
          <a:noFill/>
          <a:ln/>
        </p:spPr>
        <p:txBody>
          <a:bodyPr wrap="square" rtlCol="0" anchor="t"/>
          <a:lstStyle/>
          <a:p>
            <a:pPr marL="0" indent="0">
              <a:buNone/>
            </a:pPr>
            <a:r>
              <a:rPr lang="en-US" sz="1100" dirty="0">
                <a:solidFill>
                  <a:srgbClr val="B0C4DE"/>
                </a:solidFill>
              </a:rPr>
              <a:t>Classical CV pipeline (MOG2 + centroid tracker + cosine similarity) successfully detects counterflow violations across all 4 Indonesian CCTV scenarios — 2 daytime and 2 nighttime recordings from Bogor, Bekasi, and Tangerang.</a:t>
            </a:r>
            <a:endParaRPr lang="en-US" sz="1100" dirty="0"/>
          </a:p>
        </p:txBody>
      </p:sp>
      <p:sp>
        <p:nvSpPr>
          <p:cNvPr id="9" name="Shape 6"/>
          <p:cNvSpPr/>
          <p:nvPr/>
        </p:nvSpPr>
        <p:spPr>
          <a:xfrm>
            <a:off x="4709160" y="914400"/>
            <a:ext cx="4114800" cy="1828800"/>
          </a:xfrm>
          <a:prstGeom prst="rect">
            <a:avLst/>
          </a:prstGeom>
          <a:solidFill>
            <a:srgbClr val="132F52"/>
          </a:solidFill>
          <a:ln w="6350">
            <a:solidFill>
              <a:srgbClr val="1A78C2"/>
            </a:solidFill>
            <a:prstDash val="solid"/>
          </a:ln>
        </p:spPr>
        <p:txBody>
          <a:bodyPr/>
          <a:p/>
        </p:txBody>
      </p:sp>
      <p:pic>
        <p:nvPicPr>
          <p:cNvPr id="10" name="Image 1" descr="preencoded.png"/>
          <p:cNvPicPr>
            <a:picLocks noChangeAspect="1"/>
          </p:cNvPicPr>
          <p:nvPr/>
        </p:nvPicPr>
        <p:blipFill>
          <a:blip r:embed="rId4"/>
          <a:stretch>
            <a:fillRect/>
          </a:stretch>
        </p:blipFill>
        <p:spPr>
          <a:xfrm>
            <a:off x="4873752" y="1024128"/>
            <a:ext cx="329184" cy="329184"/>
          </a:xfrm>
          <a:prstGeom prst="rect">
            <a:avLst/>
          </a:prstGeom>
        </p:spPr>
      </p:pic>
      <p:sp>
        <p:nvSpPr>
          <p:cNvPr id="11" name="Text 7"/>
          <p:cNvSpPr/>
          <p:nvPr/>
        </p:nvSpPr>
        <p:spPr>
          <a:xfrm>
            <a:off x="5294376" y="1024128"/>
            <a:ext cx="3383280" cy="329184"/>
          </a:xfrm>
          <a:prstGeom prst="rect">
            <a:avLst/>
          </a:prstGeom>
          <a:noFill/>
          <a:ln/>
        </p:spPr>
        <p:txBody>
          <a:bodyPr wrap="square" rtlCol="0" anchor="ctr"/>
          <a:lstStyle/>
          <a:p>
            <a:pPr marL="0" indent="0">
              <a:buNone/>
            </a:pPr>
            <a:r>
              <a:rPr lang="en-US" sz="1250" b="1" dirty="0">
                <a:solidFill>
                  <a:srgbClr val="00B4D8"/>
                </a:solidFill>
              </a:rPr>
              <a:t>Performance Highlights</a:t>
            </a:r>
            <a:endParaRPr lang="en-US" sz="1250" dirty="0"/>
          </a:p>
        </p:txBody>
      </p:sp>
      <p:sp>
        <p:nvSpPr>
          <p:cNvPr id="12" name="Text 8"/>
          <p:cNvSpPr/>
          <p:nvPr/>
        </p:nvSpPr>
        <p:spPr>
          <a:xfrm>
            <a:off x="4873752" y="1463040"/>
            <a:ext cx="3785616" cy="1170432"/>
          </a:xfrm>
          <a:prstGeom prst="rect">
            <a:avLst/>
          </a:prstGeom>
          <a:noFill/>
          <a:ln/>
        </p:spPr>
        <p:txBody>
          <a:bodyPr wrap="square" rtlCol="0" anchor="t"/>
          <a:lstStyle/>
          <a:p>
            <a:pPr marL="0" indent="0">
              <a:buNone/>
            </a:pPr>
            <a:r>
              <a:rPr lang="en-US" sz="1100" dirty="0">
                <a:solidFill>
                  <a:srgbClr val="B0C4DE"/>
                </a:solidFill>
              </a:rPr>
              <a:t>traffic_day_2 yielded 147 detections (Precision 22.45%). traffic_night_2 achieved the best precision at 55.81% (TP=24, FP=19). Nighttime scenarios outperformed daytime in precision, confirming that CCTV headlight contrast aids MOG2 discrimination.</a:t>
            </a:r>
            <a:endParaRPr lang="en-US" sz="1100" dirty="0"/>
          </a:p>
        </p:txBody>
      </p:sp>
      <p:sp>
        <p:nvSpPr>
          <p:cNvPr id="13" name="Shape 9"/>
          <p:cNvSpPr/>
          <p:nvPr/>
        </p:nvSpPr>
        <p:spPr>
          <a:xfrm>
            <a:off x="320040" y="2926080"/>
            <a:ext cx="4114800" cy="1828800"/>
          </a:xfrm>
          <a:prstGeom prst="rect">
            <a:avLst/>
          </a:prstGeom>
          <a:solidFill>
            <a:srgbClr val="132F52"/>
          </a:solidFill>
          <a:ln w="6350">
            <a:solidFill>
              <a:srgbClr val="1A78C2"/>
            </a:solidFill>
            <a:prstDash val="solid"/>
          </a:ln>
        </p:spPr>
        <p:txBody>
          <a:bodyPr/>
          <a:p/>
        </p:txBody>
      </p:sp>
      <p:pic>
        <p:nvPicPr>
          <p:cNvPr id="14" name="Image 2" descr="preencoded.png"/>
          <p:cNvPicPr>
            <a:picLocks noChangeAspect="1"/>
          </p:cNvPicPr>
          <p:nvPr/>
        </p:nvPicPr>
        <p:blipFill>
          <a:blip r:embed="rId5"/>
          <a:stretch>
            <a:fillRect/>
          </a:stretch>
        </p:blipFill>
        <p:spPr>
          <a:xfrm>
            <a:off x="484632" y="3035808"/>
            <a:ext cx="329184" cy="329184"/>
          </a:xfrm>
          <a:prstGeom prst="rect">
            <a:avLst/>
          </a:prstGeom>
        </p:spPr>
      </p:pic>
      <p:sp>
        <p:nvSpPr>
          <p:cNvPr id="15" name="Text 10"/>
          <p:cNvSpPr/>
          <p:nvPr/>
        </p:nvSpPr>
        <p:spPr>
          <a:xfrm>
            <a:off x="905256" y="3035808"/>
            <a:ext cx="3383280" cy="329184"/>
          </a:xfrm>
          <a:prstGeom prst="rect">
            <a:avLst/>
          </a:prstGeom>
          <a:noFill/>
          <a:ln/>
        </p:spPr>
        <p:txBody>
          <a:bodyPr wrap="square" rtlCol="0" anchor="ctr"/>
          <a:lstStyle/>
          <a:p>
            <a:pPr marL="0" indent="0">
              <a:buNone/>
            </a:pPr>
            <a:r>
              <a:rPr lang="en-US" sz="1250" b="1" dirty="0">
                <a:solidFill>
                  <a:srgbClr val="00B4D8"/>
                </a:solidFill>
              </a:rPr>
              <a:t>Methodological Contributions</a:t>
            </a:r>
            <a:endParaRPr lang="en-US" sz="1250" dirty="0"/>
          </a:p>
        </p:txBody>
      </p:sp>
      <p:sp>
        <p:nvSpPr>
          <p:cNvPr id="16" name="Text 11"/>
          <p:cNvSpPr/>
          <p:nvPr/>
        </p:nvSpPr>
        <p:spPr>
          <a:xfrm>
            <a:off x="484632" y="3474720"/>
            <a:ext cx="3785616" cy="1170432"/>
          </a:xfrm>
          <a:prstGeom prst="rect">
            <a:avLst/>
          </a:prstGeom>
          <a:noFill/>
          <a:ln/>
        </p:spPr>
        <p:txBody>
          <a:bodyPr wrap="square" rtlCol="0" anchor="t"/>
          <a:lstStyle/>
          <a:p>
            <a:pPr marL="0" indent="0">
              <a:buNone/>
            </a:pPr>
            <a:r>
              <a:rPr lang="en-US" sz="1100" dirty="0">
                <a:solidFill>
                  <a:srgbClr val="B0C4DE"/>
                </a:solidFill>
              </a:rPr>
              <a:t>End-to-end pipeline requiring no DL or labeled data; configurable ROI lane tool for arbitrary geometries; CSV violation logs + annotated video outputs; baseline for future development.</a:t>
            </a:r>
            <a:endParaRPr lang="en-US" sz="1100" dirty="0"/>
          </a:p>
        </p:txBody>
      </p:sp>
      <p:sp>
        <p:nvSpPr>
          <p:cNvPr id="17" name="Shape 12"/>
          <p:cNvSpPr/>
          <p:nvPr/>
        </p:nvSpPr>
        <p:spPr>
          <a:xfrm>
            <a:off x="4709160" y="2926080"/>
            <a:ext cx="4114800" cy="1828800"/>
          </a:xfrm>
          <a:prstGeom prst="rect">
            <a:avLst/>
          </a:prstGeom>
          <a:solidFill>
            <a:srgbClr val="132F52"/>
          </a:solidFill>
          <a:ln w="6350">
            <a:solidFill>
              <a:srgbClr val="1A78C2"/>
            </a:solidFill>
            <a:prstDash val="solid"/>
          </a:ln>
        </p:spPr>
        <p:txBody>
          <a:bodyPr/>
          <a:p/>
        </p:txBody>
      </p:sp>
      <p:pic>
        <p:nvPicPr>
          <p:cNvPr id="18" name="Image 3" descr="preencoded.png"/>
          <p:cNvPicPr>
            <a:picLocks noChangeAspect="1"/>
          </p:cNvPicPr>
          <p:nvPr/>
        </p:nvPicPr>
        <p:blipFill>
          <a:blip r:embed="rId6"/>
          <a:stretch>
            <a:fillRect/>
          </a:stretch>
        </p:blipFill>
        <p:spPr>
          <a:xfrm>
            <a:off x="4873752" y="3035808"/>
            <a:ext cx="329184" cy="329184"/>
          </a:xfrm>
          <a:prstGeom prst="rect">
            <a:avLst/>
          </a:prstGeom>
        </p:spPr>
      </p:pic>
      <p:sp>
        <p:nvSpPr>
          <p:cNvPr id="19" name="Text 13"/>
          <p:cNvSpPr/>
          <p:nvPr/>
        </p:nvSpPr>
        <p:spPr>
          <a:xfrm>
            <a:off x="5294376" y="3035808"/>
            <a:ext cx="3383280" cy="329184"/>
          </a:xfrm>
          <a:prstGeom prst="rect">
            <a:avLst/>
          </a:prstGeom>
          <a:noFill/>
          <a:ln/>
        </p:spPr>
        <p:txBody>
          <a:bodyPr wrap="square" rtlCol="0" anchor="ctr"/>
          <a:lstStyle/>
          <a:p>
            <a:pPr marL="0" indent="0">
              <a:buNone/>
            </a:pPr>
            <a:r>
              <a:rPr lang="en-US" sz="1250" b="1" dirty="0">
                <a:solidFill>
                  <a:srgbClr val="00B4D8"/>
                </a:solidFill>
              </a:rPr>
              <a:t>Path Forward</a:t>
            </a:r>
            <a:endParaRPr lang="en-US" sz="1250" dirty="0"/>
          </a:p>
        </p:txBody>
      </p:sp>
      <p:sp>
        <p:nvSpPr>
          <p:cNvPr id="20" name="Text 14"/>
          <p:cNvSpPr/>
          <p:nvPr/>
        </p:nvSpPr>
        <p:spPr>
          <a:xfrm>
            <a:off x="4873752" y="3474720"/>
            <a:ext cx="3785616" cy="1170432"/>
          </a:xfrm>
          <a:prstGeom prst="rect">
            <a:avLst/>
          </a:prstGeom>
          <a:noFill/>
          <a:ln/>
        </p:spPr>
        <p:txBody>
          <a:bodyPr wrap="square" rtlCol="0" anchor="t"/>
          <a:lstStyle/>
          <a:p>
            <a:pPr marL="0" indent="0">
              <a:buNone/>
            </a:pPr>
            <a:r>
              <a:rPr lang="en-US" sz="1100" dirty="0">
                <a:solidFill>
                  <a:srgbClr val="B0C4DE"/>
                </a:solidFill>
              </a:rPr>
              <a:t>System provides a verified classical baseline for Indonesian CCTV-based counterflow detection. Integration with YOLO detection, DeepSORT/ByteTrack tracking, CCTV-aware parameter tuning, and multi-violation logic will improve precision and deployment readiness.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2826</Words>
  <Application>Microsoft Office PowerPoint</Application>
  <PresentationFormat>On-screen Show (16:9)</PresentationFormat>
  <Paragraphs>297</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Flow Violation Detection</dc:title>
  <dc:subject>PptxGenJS Presentation</dc:subject>
  <dc:creator>Mirsa Bayu Prasetyo et al.</dc:creator>
  <cp:lastModifiedBy>Jovi Sitindaon</cp:lastModifiedBy>
  <cp:revision>2</cp:revision>
  <dcterms:created xsi:type="dcterms:W3CDTF">2026-06-02T13:28:58Z</dcterms:created>
  <dcterms:modified xsi:type="dcterms:W3CDTF">2026-06-02T13:32:42Z</dcterms:modified>
</cp:coreProperties>
</file>